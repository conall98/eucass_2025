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2.xml" ContentType="application/vnd.openxmlformats-officedocument.presentationml.notesSlid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3.xml" ContentType="application/vnd.openxmlformats-officedocument.presentationml.notesSlid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8"/>
  </p:notesMasterIdLst>
  <p:sldIdLst>
    <p:sldId id="540" r:id="rId5"/>
    <p:sldId id="541" r:id="rId6"/>
    <p:sldId id="572" r:id="rId7"/>
    <p:sldId id="588" r:id="rId8"/>
    <p:sldId id="587" r:id="rId9"/>
    <p:sldId id="569" r:id="rId10"/>
    <p:sldId id="581" r:id="rId11"/>
    <p:sldId id="573" r:id="rId12"/>
    <p:sldId id="574" r:id="rId13"/>
    <p:sldId id="575" r:id="rId14"/>
    <p:sldId id="577" r:id="rId15"/>
    <p:sldId id="579" r:id="rId16"/>
    <p:sldId id="576" r:id="rId17"/>
    <p:sldId id="580" r:id="rId18"/>
    <p:sldId id="585" r:id="rId19"/>
    <p:sldId id="583" r:id="rId20"/>
    <p:sldId id="584" r:id="rId21"/>
    <p:sldId id="564" r:id="rId22"/>
    <p:sldId id="582" r:id="rId23"/>
    <p:sldId id="586" r:id="rId24"/>
    <p:sldId id="589" r:id="rId25"/>
    <p:sldId id="590" r:id="rId26"/>
    <p:sldId id="591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FF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87" autoAdjust="0"/>
    <p:restoredTop sz="95970"/>
  </p:normalViewPr>
  <p:slideViewPr>
    <p:cSldViewPr snapToGrid="0" snapToObjects="1" showGuides="1">
      <p:cViewPr varScale="1">
        <p:scale>
          <a:sx n="89" d="100"/>
          <a:sy n="89" d="100"/>
        </p:scale>
        <p:origin x="1284" y="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EUCASS_2025\lander%20year%20li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desperati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desperatio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desperatio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desperatio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desperation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desperation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cdepaor2\Desktop\EUCASS_2025\lander%20year%20lis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ysClr val="windowText" lastClr="00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pPr>
            <a:r>
              <a:rPr lang="fr-FR" sz="1600"/>
              <a:t>Proportion of Manned vs. Unmanned Landers</a:t>
            </a:r>
            <a:br>
              <a:rPr lang="fr-FR" sz="1600"/>
            </a:br>
            <a:r>
              <a:rPr lang="fr-FR" sz="1600"/>
              <a:t>1966 - 2025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ysClr val="windowText" lastClr="00000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.2116302184075359"/>
          <c:y val="0.16692248139386207"/>
          <c:w val="0.58817581022345711"/>
          <c:h val="0.73137293516711066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5D-4454-9788-7AA73D20A15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5D-4454-9788-7AA73D20A159}"/>
              </c:ext>
            </c:extLst>
          </c:dPt>
          <c:dLbls>
            <c:dLbl>
              <c:idx val="1"/>
              <c:layout>
                <c:manualLayout>
                  <c:x val="-5.1166289231349381E-2"/>
                  <c:y val="-6.5402576523098985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45D-4454-9788-7AA73D20A1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defRPr>
                </a:pPr>
                <a:endParaRPr lang="fr-FR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Feuil1!$G$46:$H$46</c:f>
              <c:strCache>
                <c:ptCount val="2"/>
                <c:pt idx="0">
                  <c:v>manned</c:v>
                </c:pt>
                <c:pt idx="1">
                  <c:v>unmanned</c:v>
                </c:pt>
              </c:strCache>
            </c:strRef>
          </c:cat>
          <c:val>
            <c:numRef>
              <c:f>Feuil1!$G$47:$H$47</c:f>
              <c:numCache>
                <c:formatCode>General</c:formatCode>
                <c:ptCount val="2"/>
                <c:pt idx="0">
                  <c:v>7</c:v>
                </c:pt>
                <c:pt idx="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5D-4454-9788-7AA73D20A15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128341974527245"/>
          <c:y val="0.87007816184182696"/>
          <c:w val="0.73296635957492495"/>
          <c:h val="0.12978671697458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800" b="0" i="0" u="none" strike="noStrike" kern="1200" baseline="0">
              <a:solidFill>
                <a:sysClr val="windowText" lastClr="00000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 sz="1200">
          <a:solidFill>
            <a:sysClr val="windowText" lastClr="000000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fr-FR" dirty="0" err="1"/>
              <a:t>Mp</a:t>
            </a:r>
            <a:r>
              <a:rPr lang="fr-FR" dirty="0"/>
              <a:t> to </a:t>
            </a:r>
            <a:r>
              <a:rPr lang="fr-FR" dirty="0" err="1"/>
              <a:t>strucutre</a:t>
            </a:r>
            <a:endParaRPr lang="fr-F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0.10925407066450056"/>
                  <c:y val="-0.18657773061949298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xVal>
            <c:numRef>
              <c:f>Feuil1!$D$2:$D$11</c:f>
              <c:numCache>
                <c:formatCode>General</c:formatCode>
                <c:ptCount val="10"/>
                <c:pt idx="0">
                  <c:v>5295</c:v>
                </c:pt>
                <c:pt idx="1">
                  <c:v>473.3</c:v>
                </c:pt>
                <c:pt idx="2">
                  <c:v>25000</c:v>
                </c:pt>
                <c:pt idx="3">
                  <c:v>25000</c:v>
                </c:pt>
                <c:pt idx="4">
                  <c:v>35894</c:v>
                </c:pt>
                <c:pt idx="5">
                  <c:v>16461</c:v>
                </c:pt>
                <c:pt idx="6">
                  <c:v>28475</c:v>
                </c:pt>
                <c:pt idx="7">
                  <c:v>26375</c:v>
                </c:pt>
                <c:pt idx="8">
                  <c:v>22028</c:v>
                </c:pt>
                <c:pt idx="9">
                  <c:v>20956</c:v>
                </c:pt>
              </c:numCache>
            </c:numRef>
          </c:xVal>
          <c:yVal>
            <c:numRef>
              <c:f>Feuil1!$H$2:$H$11</c:f>
              <c:numCache>
                <c:formatCode>General</c:formatCode>
                <c:ptCount val="10"/>
                <c:pt idx="0">
                  <c:v>460</c:v>
                </c:pt>
                <c:pt idx="1">
                  <c:v>532.9</c:v>
                </c:pt>
                <c:pt idx="2">
                  <c:v>1681</c:v>
                </c:pt>
                <c:pt idx="3">
                  <c:v>1955</c:v>
                </c:pt>
                <c:pt idx="4">
                  <c:v>1770</c:v>
                </c:pt>
                <c:pt idx="5">
                  <c:v>2822</c:v>
                </c:pt>
                <c:pt idx="6">
                  <c:v>2015</c:v>
                </c:pt>
                <c:pt idx="7">
                  <c:v>1985</c:v>
                </c:pt>
                <c:pt idx="8">
                  <c:v>1877</c:v>
                </c:pt>
                <c:pt idx="9">
                  <c:v>1860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EA2-4DB8-AFD8-1B0AB6A0F5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0228783"/>
        <c:axId val="1630230703"/>
      </c:scatterChart>
      <c:valAx>
        <c:axId val="16302287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 err="1"/>
                  <a:t>Mp</a:t>
                </a:r>
                <a:r>
                  <a:rPr lang="fr-FR" dirty="0"/>
                  <a:t> (kg)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30703"/>
        <c:crosses val="autoZero"/>
        <c:crossBetween val="midCat"/>
      </c:valAx>
      <c:valAx>
        <c:axId val="1630230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/>
                  <a:t>Structure (kg)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287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fr-FR" dirty="0" err="1"/>
              <a:t>Mp</a:t>
            </a:r>
            <a:r>
              <a:rPr lang="fr-FR" dirty="0"/>
              <a:t> to </a:t>
            </a:r>
            <a:r>
              <a:rPr lang="fr-FR" dirty="0" err="1"/>
              <a:t>strucutre</a:t>
            </a:r>
            <a:endParaRPr lang="fr-F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0.15977949836403993"/>
                  <c:y val="-0.28442633945476781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xVal>
            <c:numRef>
              <c:f>Feuil1!$R$55:$R$64</c:f>
              <c:numCache>
                <c:formatCode>General</c:formatCode>
                <c:ptCount val="10"/>
                <c:pt idx="3">
                  <c:v>25000</c:v>
                </c:pt>
                <c:pt idx="6">
                  <c:v>28475</c:v>
                </c:pt>
                <c:pt idx="7">
                  <c:v>26375</c:v>
                </c:pt>
                <c:pt idx="8">
                  <c:v>22028</c:v>
                </c:pt>
                <c:pt idx="9">
                  <c:v>20956</c:v>
                </c:pt>
              </c:numCache>
            </c:numRef>
          </c:xVal>
          <c:yVal>
            <c:numRef>
              <c:f>Feuil1!$S$55:$S$64</c:f>
              <c:numCache>
                <c:formatCode>General</c:formatCode>
                <c:ptCount val="10"/>
                <c:pt idx="3">
                  <c:v>1955</c:v>
                </c:pt>
                <c:pt idx="6">
                  <c:v>2015</c:v>
                </c:pt>
                <c:pt idx="7">
                  <c:v>1985</c:v>
                </c:pt>
                <c:pt idx="8">
                  <c:v>1877</c:v>
                </c:pt>
                <c:pt idx="9">
                  <c:v>1860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141-464B-B308-8AD13B26AA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0228783"/>
        <c:axId val="1630230703"/>
      </c:scatterChart>
      <c:valAx>
        <c:axId val="1630228783"/>
        <c:scaling>
          <c:orientation val="minMax"/>
          <c:max val="30000"/>
          <c:min val="2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 err="1"/>
                  <a:t>Mp</a:t>
                </a:r>
                <a:r>
                  <a:rPr lang="fr-FR" dirty="0"/>
                  <a:t> (kg)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30703"/>
        <c:crosses val="autoZero"/>
        <c:crossBetween val="midCat"/>
      </c:valAx>
      <c:valAx>
        <c:axId val="1630230703"/>
        <c:scaling>
          <c:orientation val="minMax"/>
          <c:max val="2200"/>
          <c:min val="16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/>
                  <a:t>Structure (kg)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28783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mp to OTH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0.11929703954536185"/>
                  <c:y val="-0.4472759097484254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xVal>
            <c:numRef>
              <c:f>(Feuil1!$D$2:$D$6,Feuil1!$D$8:$D$11)</c:f>
              <c:numCache>
                <c:formatCode>General</c:formatCode>
                <c:ptCount val="9"/>
                <c:pt idx="0">
                  <c:v>5295</c:v>
                </c:pt>
                <c:pt idx="1">
                  <c:v>473.3</c:v>
                </c:pt>
                <c:pt idx="2">
                  <c:v>25000</c:v>
                </c:pt>
                <c:pt idx="3">
                  <c:v>25000</c:v>
                </c:pt>
                <c:pt idx="4">
                  <c:v>35894</c:v>
                </c:pt>
                <c:pt idx="5">
                  <c:v>28475</c:v>
                </c:pt>
                <c:pt idx="6">
                  <c:v>26375</c:v>
                </c:pt>
                <c:pt idx="7">
                  <c:v>22028</c:v>
                </c:pt>
                <c:pt idx="8">
                  <c:v>20956</c:v>
                </c:pt>
              </c:numCache>
            </c:numRef>
          </c:xVal>
          <c:yVal>
            <c:numRef>
              <c:f>(Feuil1!$M$2:$M$6,Feuil1!$M$8:$M$11)</c:f>
              <c:numCache>
                <c:formatCode>General</c:formatCode>
                <c:ptCount val="9"/>
                <c:pt idx="0">
                  <c:v>273</c:v>
                </c:pt>
                <c:pt idx="1">
                  <c:v>56</c:v>
                </c:pt>
                <c:pt idx="2">
                  <c:v>455</c:v>
                </c:pt>
                <c:pt idx="3">
                  <c:v>455</c:v>
                </c:pt>
                <c:pt idx="4">
                  <c:v>1469</c:v>
                </c:pt>
                <c:pt idx="5">
                  <c:v>883</c:v>
                </c:pt>
                <c:pt idx="6">
                  <c:v>867</c:v>
                </c:pt>
                <c:pt idx="7">
                  <c:v>772</c:v>
                </c:pt>
                <c:pt idx="8">
                  <c:v>764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B73-4443-9D50-815A8D25FD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0228783"/>
        <c:axId val="1630230703"/>
      </c:scatterChart>
      <c:valAx>
        <c:axId val="16302287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mp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30703"/>
        <c:crosses val="autoZero"/>
        <c:crossBetween val="midCat"/>
      </c:valAx>
      <c:valAx>
        <c:axId val="1630230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OTH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287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mt</a:t>
            </a:r>
            <a:r>
              <a:rPr lang="fr-FR" baseline="0"/>
              <a:t> to thermal</a:t>
            </a:r>
            <a:endParaRPr lang="fr-F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0.11929703954536185"/>
                  <c:y val="-0.4472759097484254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xVal>
            <c:numRef>
              <c:f>(Feuil1!$B$2:$B$5,Feuil1!$B$7:$B$11)</c:f>
              <c:numCache>
                <c:formatCode>General</c:formatCode>
                <c:ptCount val="9"/>
                <c:pt idx="0">
                  <c:v>16448</c:v>
                </c:pt>
                <c:pt idx="1">
                  <c:v>5038.6000000000004</c:v>
                </c:pt>
                <c:pt idx="2">
                  <c:v>60075</c:v>
                </c:pt>
                <c:pt idx="3">
                  <c:v>69298</c:v>
                </c:pt>
                <c:pt idx="4">
                  <c:v>44821</c:v>
                </c:pt>
                <c:pt idx="5">
                  <c:v>61503</c:v>
                </c:pt>
                <c:pt idx="6">
                  <c:v>57620</c:v>
                </c:pt>
                <c:pt idx="7">
                  <c:v>47150</c:v>
                </c:pt>
                <c:pt idx="8">
                  <c:v>45180</c:v>
                </c:pt>
              </c:numCache>
            </c:numRef>
          </c:xVal>
          <c:yVal>
            <c:numRef>
              <c:f>(Feuil1!$L$2:$L$5,Feuil1!$L$7:$L$11)</c:f>
              <c:numCache>
                <c:formatCode>General</c:formatCode>
                <c:ptCount val="9"/>
                <c:pt idx="0">
                  <c:v>404</c:v>
                </c:pt>
                <c:pt idx="1">
                  <c:v>113.5</c:v>
                </c:pt>
                <c:pt idx="2">
                  <c:v>2017</c:v>
                </c:pt>
                <c:pt idx="3">
                  <c:v>1006</c:v>
                </c:pt>
                <c:pt idx="4">
                  <c:v>265</c:v>
                </c:pt>
                <c:pt idx="5">
                  <c:v>1072</c:v>
                </c:pt>
                <c:pt idx="6">
                  <c:v>1066</c:v>
                </c:pt>
                <c:pt idx="7">
                  <c:v>1049</c:v>
                </c:pt>
                <c:pt idx="8">
                  <c:v>1046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618-478F-97C6-703376491A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0228783"/>
        <c:axId val="1630230703"/>
      </c:scatterChart>
      <c:valAx>
        <c:axId val="16302287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mt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30703"/>
        <c:crosses val="autoZero"/>
        <c:crossBetween val="midCat"/>
      </c:valAx>
      <c:valAx>
        <c:axId val="1630230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TPS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287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mp to avionics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0.1246724250586113"/>
                  <c:y val="-0.28093854846247668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xVal>
            <c:numRef>
              <c:f>Feuil1!$C$2:$C$13</c:f>
              <c:numCache>
                <c:formatCode>General</c:formatCode>
                <c:ptCount val="12"/>
                <c:pt idx="0">
                  <c:v>2373</c:v>
                </c:pt>
                <c:pt idx="1">
                  <c:v>1673.7</c:v>
                </c:pt>
                <c:pt idx="2">
                  <c:v>9823</c:v>
                </c:pt>
                <c:pt idx="3">
                  <c:v>7899</c:v>
                </c:pt>
                <c:pt idx="4">
                  <c:v>9320</c:v>
                </c:pt>
                <c:pt idx="5">
                  <c:v>5858</c:v>
                </c:pt>
                <c:pt idx="6">
                  <c:v>7542</c:v>
                </c:pt>
                <c:pt idx="7">
                  <c:v>7412</c:v>
                </c:pt>
                <c:pt idx="8">
                  <c:v>5970</c:v>
                </c:pt>
                <c:pt idx="9">
                  <c:v>5912</c:v>
                </c:pt>
                <c:pt idx="10">
                  <c:v>6503</c:v>
                </c:pt>
                <c:pt idx="11">
                  <c:v>10747</c:v>
                </c:pt>
              </c:numCache>
            </c:numRef>
          </c:xVal>
          <c:yVal>
            <c:numRef>
              <c:f>Feuil1!$K$2:$K$13</c:f>
              <c:numCache>
                <c:formatCode>General</c:formatCode>
                <c:ptCount val="12"/>
                <c:pt idx="0">
                  <c:v>29</c:v>
                </c:pt>
                <c:pt idx="1">
                  <c:v>120.1</c:v>
                </c:pt>
                <c:pt idx="2">
                  <c:v>934</c:v>
                </c:pt>
                <c:pt idx="3">
                  <c:v>1062</c:v>
                </c:pt>
                <c:pt idx="4">
                  <c:v>307</c:v>
                </c:pt>
                <c:pt idx="5">
                  <c:v>818</c:v>
                </c:pt>
                <c:pt idx="6">
                  <c:v>594</c:v>
                </c:pt>
                <c:pt idx="7">
                  <c:v>594</c:v>
                </c:pt>
                <c:pt idx="8">
                  <c:v>594</c:v>
                </c:pt>
                <c:pt idx="9">
                  <c:v>594</c:v>
                </c:pt>
                <c:pt idx="10">
                  <c:v>258.7</c:v>
                </c:pt>
                <c:pt idx="11">
                  <c:v>519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D89-42B3-895A-75F0AFB7B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0228783"/>
        <c:axId val="1630230703"/>
      </c:scatterChart>
      <c:valAx>
        <c:axId val="16302287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md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30703"/>
        <c:crosses val="autoZero"/>
        <c:crossBetween val="midCat"/>
      </c:valAx>
      <c:valAx>
        <c:axId val="1630230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avio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287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fr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md to power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0.14240978598630874"/>
                  <c:y val="-0.26572466547592755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xVal>
            <c:numRef>
              <c:f>Feuil1!$C$2:$C$13</c:f>
              <c:numCache>
                <c:formatCode>General</c:formatCode>
                <c:ptCount val="12"/>
                <c:pt idx="0">
                  <c:v>2373</c:v>
                </c:pt>
                <c:pt idx="1">
                  <c:v>1673.7</c:v>
                </c:pt>
                <c:pt idx="2">
                  <c:v>9823</c:v>
                </c:pt>
                <c:pt idx="3">
                  <c:v>7899</c:v>
                </c:pt>
                <c:pt idx="4">
                  <c:v>9320</c:v>
                </c:pt>
                <c:pt idx="5">
                  <c:v>5858</c:v>
                </c:pt>
                <c:pt idx="6">
                  <c:v>7542</c:v>
                </c:pt>
                <c:pt idx="7">
                  <c:v>7412</c:v>
                </c:pt>
                <c:pt idx="8">
                  <c:v>5970</c:v>
                </c:pt>
                <c:pt idx="9">
                  <c:v>5912</c:v>
                </c:pt>
                <c:pt idx="10">
                  <c:v>6503</c:v>
                </c:pt>
                <c:pt idx="11">
                  <c:v>10747</c:v>
                </c:pt>
              </c:numCache>
            </c:numRef>
          </c:xVal>
          <c:yVal>
            <c:numRef>
              <c:f>Feuil1!$J$2:$J$13</c:f>
              <c:numCache>
                <c:formatCode>General</c:formatCode>
                <c:ptCount val="12"/>
                <c:pt idx="0">
                  <c:v>366</c:v>
                </c:pt>
                <c:pt idx="1">
                  <c:v>125.7</c:v>
                </c:pt>
                <c:pt idx="2">
                  <c:v>478</c:v>
                </c:pt>
                <c:pt idx="3">
                  <c:v>478</c:v>
                </c:pt>
                <c:pt idx="4">
                  <c:v>385</c:v>
                </c:pt>
                <c:pt idx="5">
                  <c:v>204</c:v>
                </c:pt>
                <c:pt idx="6">
                  <c:v>553</c:v>
                </c:pt>
                <c:pt idx="7">
                  <c:v>553</c:v>
                </c:pt>
                <c:pt idx="8">
                  <c:v>553</c:v>
                </c:pt>
                <c:pt idx="9">
                  <c:v>553</c:v>
                </c:pt>
                <c:pt idx="10">
                  <c:v>663</c:v>
                </c:pt>
                <c:pt idx="11">
                  <c:v>288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AC4-4B5C-B6A5-5DD0303A1D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0228783"/>
        <c:axId val="1630230703"/>
      </c:scatterChart>
      <c:valAx>
        <c:axId val="16302287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md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30703"/>
        <c:crosses val="autoZero"/>
        <c:crossBetween val="midCat"/>
      </c:valAx>
      <c:valAx>
        <c:axId val="1630230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pwoer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287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Feuil1!$D$4:$D$46</cx:f>
        <cx:lvl ptCount="43" formatCode="General">
          <cx:pt idx="0">1965</cx:pt>
          <cx:pt idx="1">1965</cx:pt>
          <cx:pt idx="2">1966</cx:pt>
          <cx:pt idx="3">1966</cx:pt>
          <cx:pt idx="4">1966</cx:pt>
          <cx:pt idx="5">1966</cx:pt>
          <cx:pt idx="6">1967</cx:pt>
          <cx:pt idx="7">1967</cx:pt>
          <cx:pt idx="8">1967</cx:pt>
          <cx:pt idx="9">1967</cx:pt>
          <cx:pt idx="10">1968</cx:pt>
          <cx:pt idx="11">1969</cx:pt>
          <cx:pt idx="12">1969</cx:pt>
          <cx:pt idx="13">1969</cx:pt>
          <cx:pt idx="14">1970</cx:pt>
          <cx:pt idx="15">1970</cx:pt>
          <cx:pt idx="16">1970</cx:pt>
          <cx:pt idx="17">1971</cx:pt>
          <cx:pt idx="18">1971</cx:pt>
          <cx:pt idx="19">1971</cx:pt>
          <cx:pt idx="20">1972</cx:pt>
          <cx:pt idx="21">1972</cx:pt>
          <cx:pt idx="22">1972</cx:pt>
          <cx:pt idx="23">1973</cx:pt>
          <cx:pt idx="24">1974</cx:pt>
          <cx:pt idx="25">1976</cx:pt>
          <cx:pt idx="26">2013</cx:pt>
          <cx:pt idx="27">2019</cx:pt>
          <cx:pt idx="28">2019</cx:pt>
          <cx:pt idx="29">2019</cx:pt>
          <cx:pt idx="30">2020</cx:pt>
          <cx:pt idx="31">2022</cx:pt>
          <cx:pt idx="32">2023</cx:pt>
          <cx:pt idx="33">2023</cx:pt>
          <cx:pt idx="34">2023</cx:pt>
          <cx:pt idx="35">2024</cx:pt>
          <cx:pt idx="36">2024</cx:pt>
          <cx:pt idx="37">2024</cx:pt>
          <cx:pt idx="38">2024</cx:pt>
          <cx:pt idx="39">2025</cx:pt>
          <cx:pt idx="40">2025</cx:pt>
          <cx:pt idx="41">2025</cx:pt>
        </cx:lvl>
      </cx:numDim>
    </cx:data>
  </cx:chartData>
  <cx:chart>
    <cx:title pos="t" align="ctr" overlay="0">
      <cx:tx>
        <cx:txData>
          <cx:v>Landers Launched Toward Moon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1800">
              <a:solidFill>
                <a:sysClr val="windowText" lastClr="00000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defRPr>
          </a:pPr>
          <a:r>
            <a:rPr lang="fr-FR" sz="1800" b="0" i="0" u="none" strike="noStrike" baseline="0">
              <a:solidFill>
                <a:sysClr val="windowText" lastClr="00000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rPr>
            <a:t>Landers Launched Toward Moon</a:t>
          </a:r>
        </a:p>
      </cx:txPr>
    </cx:title>
    <cx:plotArea>
      <cx:plotAreaRegion>
        <cx:series layoutId="clusteredColumn" uniqueId="{369A1F8E-B36B-4C60-B7C0-84586F71EFF6}">
          <cx:dataId val="0"/>
          <cx:layoutPr>
            <cx:binning intervalClosed="r">
              <cx:binSize val="5"/>
            </cx:binning>
          </cx:layoutPr>
        </cx:series>
      </cx:plotAreaRegion>
      <cx:axis id="0">
        <cx:catScaling gapWidth="0"/>
        <cx:majorTickMarks type="in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100">
                <a:solidFill>
                  <a:sysClr val="windowText" lastClr="00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pPr>
            <a:endParaRPr lang="fr-FR" sz="1100" b="0" i="0" u="none" strike="noStrike" baseline="0">
              <a:solidFill>
                <a:sysClr val="windowText" lastClr="00000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cx:txPr>
      </cx:axis>
      <cx:axis id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ysClr val="windowText" lastClr="00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pPr>
            <a:endParaRPr lang="fr-FR" sz="1200">
              <a:solidFill>
                <a:sysClr val="windowText" lastClr="00000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cx:txPr>
      </cx:axis>
    </cx:plotArea>
  </cx:chart>
  <cx:spPr>
    <a:ln>
      <a:solidFill>
        <a:schemeClr val="tx1"/>
      </a:solidFill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6B885-BE35-AF47-BFFA-C9A237C2F56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637F1-BC38-A846-9EDD-8D70282985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1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8442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40E5F-D72B-D021-E365-2322DAF9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93013-86B9-65D3-7B63-822FD656F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43783-EDAB-ABDB-B089-B469CB3DE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B00E0-C93F-EC07-A97F-8A7CF41B2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9808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CA040-F5D5-3D12-12D9-BA9CBC4E4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751F2-9391-000E-F151-41F6A0040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FC8C9-CF3F-E927-027B-4424DBF30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A3066-9763-09B7-8129-6CEA68A43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6754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D8FEB-8E60-C7CB-1EDA-127A88932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51235-17A7-C20F-C425-59B3BACA3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901D8-104A-0811-1299-743D92188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D9884-4BE2-F47C-48D0-1A05A2EDB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983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F6FAF-6E25-0CC6-66AE-0C409EF33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68C84-5B80-D0A8-8615-9669408BC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95E70-151F-E340-8D3B-A864F4058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8D046-A24A-2643-2ECF-0F1DF91A1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2006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34EC2-278D-C962-41E8-CC8C2746F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0B057-443D-B700-519C-D36B7165C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D9E38-7D76-EEEF-0482-563E6C46D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00A5A-B441-07C4-2B1E-D52E72F04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399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D9CF-EEF7-7467-1FD6-11FFCE3ED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5FE90-26D5-CE9B-71B6-EECDFBCB4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13C05-3A4B-2FE2-F393-09F16628E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13FA2-A510-3C62-8019-C08BEB6DC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7674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B7628-E721-BDEC-1CFB-9731FF7E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A93BB-4D41-A4D6-322D-4D765E637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63213-E83B-5231-81C0-83A73FC63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0F3BB-DD16-C0BF-A0B8-25240687B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0565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71497-520B-04BB-85A8-B4C6894D1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A8F53-BA47-7751-C76E-D9E7395D7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3586E-E046-A4CC-A016-CE964B509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FE078-E74E-FBD9-C170-1DEBAF3D0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6984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0849-E0F5-95B6-C665-A3A9FFB3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10943-9FC2-5ABD-32D8-FBAAC1D10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7F4C3-2478-B118-5C27-1EDE4576D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17A52-AE52-85A4-8AE1-96A936724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0161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5284E-B065-5692-7884-F89B82CE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94FC6-1E13-6369-02AF-7809791B0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41CB6-C619-253C-8DA2-5922238FC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E2566-E3EF-9EDE-FC22-3E680A3AB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4384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77759-B34B-95F2-B5EB-B98123CF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678D3-C783-F2B9-FE7E-CCCBE0558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4745C-3A58-36A4-B79D-54A95FC40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FFEF0-39FD-F92B-DF71-8133703F3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9717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C70EA-110C-9BA7-29AE-EFA7410DE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22C35-CE91-11B7-3E46-B51AE6E40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A7F24-E639-4D6C-987D-A45F9EC18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3FB39-E814-8441-B0D7-41E80A980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7309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19B01-A920-48CC-5787-5A5628E8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64334-268E-F93F-7D6E-CB7F4C5E0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2F0FA-93FB-7ECC-CB81-8C6EABB66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8F007-15AE-35A0-3144-41C496562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48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F6B0-AF72-8832-2078-3E78F6DE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DEFA8-D7E0-43EF-5880-C6E6778FD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DA00D-B92A-51A3-8403-45321453D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2AEDB-2F8E-6364-2472-44987E7B5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9756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ED918-58B9-F410-0CA2-1DC06478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7919C-B562-CDD4-36B7-D1B4F67D1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7C940-3B10-672F-3282-B338C875E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F8D23-ED88-06E8-C049-9CE1AE2A6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49991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02BC5-A4FE-4329-1CEE-744160CC2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9D7FB-FFA8-0595-7BF8-4AAE4F714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9DDD0-C13A-10D2-EC38-D890444A3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9685E-A7D5-B1FB-FE12-1E37ABE28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45818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E8F2F-18BA-D262-0477-DEB953520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7BDAD-3191-2F58-3F70-C461E936A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19F0B-2681-D60C-3869-CC9037ABE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F4AC4-7299-C20A-92E5-E1621C045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7966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C63B1-3FB3-BFDD-DD21-C0FCD49D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E2A5D-56C9-9FC1-0CFB-FA7EC8AB8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464BD-4E28-F3D7-C597-3D704A804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875ED-DF6B-716B-94B4-64D1A4CF2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66504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DBF7-E7F5-C4C5-51BA-DD48D3EA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3688D-64FD-E543-24AB-EFB6F243C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6E479-00F8-1E72-EA81-B3BEF408E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B3865-8FF6-8A8C-87B8-B72F4FD9A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813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64189-D5FF-9DFA-8419-8D08447E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A9624-5857-1AFA-D759-8BCBA716A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9277B-327B-1489-424D-3C39B2520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80DB1-5DE5-EFD4-046A-42CF9015C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51718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D5614-1059-2413-0775-A8085E697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F7B75-BBF8-5ADD-1C96-1CA330138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75391-7B45-48D8-FBAA-05F83C4A6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5B130-FB22-D011-224A-BC7194136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10219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4F75-3825-6B1F-0E2E-669809FB8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A856D-00BD-C35C-3B7C-BC102B1DC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0F433-B8DE-62BA-1F8D-BE9917AFD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77B47-47A9-C871-AAED-2B5A1EAA9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7793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 bwMode="auto">
          <a:xfrm>
            <a:off x="1524000" y="963624"/>
            <a:ext cx="9144000" cy="1421928"/>
          </a:xfrm>
        </p:spPr>
        <p:txBody>
          <a:bodyPr anchor="b">
            <a:sp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2565856"/>
            <a:ext cx="9144000" cy="4247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25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 userDrawn="1"/>
        </p:nvSpPr>
        <p:spPr bwMode="auto">
          <a:xfrm>
            <a:off x="0" y="-9152"/>
            <a:ext cx="12192000" cy="14219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 bwMode="auto">
          <a:xfrm>
            <a:off x="1524000" y="963624"/>
            <a:ext cx="9144000" cy="1421928"/>
          </a:xfrm>
        </p:spPr>
        <p:txBody>
          <a:bodyPr anchor="b">
            <a:sp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2565856"/>
            <a:ext cx="9144000" cy="4247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25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able of Conten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Overview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450762" y="1196841"/>
            <a:ext cx="11290478" cy="470782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Wingdings"/>
              <a:buChar char="§"/>
              <a:defRPr cap="small"/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6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,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450762" y="1235241"/>
            <a:ext cx="11290478" cy="4910725"/>
          </a:xfrm>
          <a:prstGeom prst="rect">
            <a:avLst/>
          </a:prstGeom>
        </p:spPr>
        <p:txBody>
          <a:bodyPr>
            <a:noAutofit/>
          </a:bodyPr>
          <a:lstStyle>
            <a:lvl1pPr marL="360000" indent="-360000">
              <a:spcBef>
                <a:spcPts val="1800"/>
              </a:spcBef>
              <a:spcAft>
                <a:spcPts val="600"/>
              </a:spcAft>
              <a:defRPr/>
            </a:lvl1pPr>
            <a:lvl2pPr indent="-288000">
              <a:spcAft>
                <a:spcPts val="500"/>
              </a:spcAft>
              <a:defRPr sz="2000"/>
            </a:lvl2pPr>
            <a:lvl3pPr indent="-288000">
              <a:defRPr sz="1600"/>
            </a:lvl3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9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orizontal comparison, subtitle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0762" y="1180800"/>
            <a:ext cx="5546814" cy="49730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0760" y="1782000"/>
            <a:ext cx="5546815" cy="438830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199" y="1780674"/>
            <a:ext cx="5569037" cy="439001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 bwMode="auto">
          <a:xfrm>
            <a:off x="6164207" y="1179093"/>
            <a:ext cx="5546814" cy="4968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9" name="Date Placeholder 1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10" name="Footer Placeholder 1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SaCLaB</a:t>
            </a:r>
          </a:p>
        </p:txBody>
      </p:sp>
      <p:sp>
        <p:nvSpPr>
          <p:cNvPr id="11" name="Slide Number Placeholder 14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39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, subtitle, figu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0762" y="1180800"/>
            <a:ext cx="5546814" cy="49730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0760" y="1782000"/>
            <a:ext cx="5546815" cy="438830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0762" y="6356350"/>
            <a:ext cx="2245216" cy="365125"/>
          </a:xfrm>
        </p:spPr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695978" y="6356350"/>
            <a:ext cx="6800045" cy="365125"/>
          </a:xfrm>
        </p:spPr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9496023" y="6356350"/>
            <a:ext cx="2245215" cy="365125"/>
          </a:xfrm>
        </p:spPr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96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, sub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0761" y="1180800"/>
            <a:ext cx="11248659" cy="49730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0760" y="1782000"/>
            <a:ext cx="11264990" cy="438830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0762" y="6356350"/>
            <a:ext cx="2245216" cy="365125"/>
          </a:xfrm>
        </p:spPr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695978" y="6356350"/>
            <a:ext cx="6800045" cy="365125"/>
          </a:xfrm>
        </p:spPr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9496023" y="6356350"/>
            <a:ext cx="2245215" cy="365125"/>
          </a:xfrm>
        </p:spPr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91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Vertical comparison, subtitle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0760" y="1180800"/>
            <a:ext cx="5546814" cy="49730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44546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0760" y="1782000"/>
            <a:ext cx="11300082" cy="1800000"/>
          </a:xfrm>
          <a:prstGeom prst="rect">
            <a:avLst/>
          </a:prstGeom>
        </p:spPr>
        <p:txBody>
          <a:bodyPr/>
          <a:lstStyle>
            <a:lvl1pPr>
              <a:spcBef>
                <a:spcPts val="18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50760" y="4395537"/>
            <a:ext cx="11281611" cy="180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 bwMode="auto">
          <a:xfrm>
            <a:off x="450760" y="3761873"/>
            <a:ext cx="5546814" cy="4968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0762" y="6356350"/>
            <a:ext cx="2245216" cy="365125"/>
          </a:xfrm>
        </p:spPr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695978" y="6356350"/>
            <a:ext cx="6800045" cy="365125"/>
          </a:xfrm>
        </p:spPr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9496023" y="6356350"/>
            <a:ext cx="2245215" cy="365125"/>
          </a:xfrm>
        </p:spPr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68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, 2 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450761" y="1235241"/>
            <a:ext cx="5400000" cy="4910725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360000">
              <a:spcBef>
                <a:spcPts val="1800"/>
              </a:spcBef>
              <a:spcAft>
                <a:spcPts val="600"/>
              </a:spcAft>
              <a:defRPr/>
            </a:lvl1pPr>
            <a:lvl2pPr indent="-288000">
              <a:spcAft>
                <a:spcPts val="500"/>
              </a:spcAft>
              <a:defRPr sz="2000"/>
            </a:lvl2pPr>
            <a:lvl3pPr indent="-288000">
              <a:defRPr sz="1600"/>
            </a:lvl3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2"/>
          <p:cNvSpPr>
            <a:spLocks noGrp="1"/>
          </p:cNvSpPr>
          <p:nvPr>
            <p:ph idx="13"/>
          </p:nvPr>
        </p:nvSpPr>
        <p:spPr bwMode="auto">
          <a:xfrm>
            <a:off x="6193835" y="1235241"/>
            <a:ext cx="5400000" cy="4910725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360000">
              <a:spcBef>
                <a:spcPts val="1800"/>
              </a:spcBef>
              <a:spcAft>
                <a:spcPts val="600"/>
              </a:spcAft>
              <a:defRPr/>
            </a:lvl1pPr>
            <a:lvl2pPr indent="-288000">
              <a:spcAft>
                <a:spcPts val="500"/>
              </a:spcAft>
              <a:defRPr sz="2000"/>
            </a:lvl2pPr>
            <a:lvl3pPr indent="-288000">
              <a:defRPr sz="1600"/>
            </a:lvl3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0762" y="6356350"/>
            <a:ext cx="2245216" cy="365125"/>
          </a:xfrm>
        </p:spPr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695978" y="6356350"/>
            <a:ext cx="6800045" cy="365125"/>
          </a:xfrm>
        </p:spPr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9496023" y="6356350"/>
            <a:ext cx="2245215" cy="365125"/>
          </a:xfrm>
        </p:spPr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13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 and picture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450761" y="1235241"/>
            <a:ext cx="5400000" cy="4910725"/>
          </a:xfrm>
          <a:prstGeom prst="rect">
            <a:avLst/>
          </a:prstGeom>
        </p:spPr>
        <p:txBody>
          <a:bodyPr>
            <a:noAutofit/>
          </a:bodyPr>
          <a:lstStyle>
            <a:lvl1pPr marL="360000" indent="-360000">
              <a:spcBef>
                <a:spcPts val="1800"/>
              </a:spcBef>
              <a:spcAft>
                <a:spcPts val="600"/>
              </a:spcAft>
              <a:defRPr/>
            </a:lvl1pPr>
            <a:lvl2pPr indent="-288000">
              <a:spcAft>
                <a:spcPts val="500"/>
              </a:spcAft>
              <a:defRPr sz="2000"/>
            </a:lvl2pPr>
            <a:lvl3pPr indent="-288000">
              <a:defRPr sz="1600"/>
            </a:lvl3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0762" y="6356350"/>
            <a:ext cx="2245216" cy="365125"/>
          </a:xfrm>
        </p:spPr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695978" y="6356350"/>
            <a:ext cx="6800045" cy="365125"/>
          </a:xfrm>
        </p:spPr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9496023" y="6356350"/>
            <a:ext cx="2245215" cy="365125"/>
          </a:xfrm>
        </p:spPr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386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0762" y="6356350"/>
            <a:ext cx="2245216" cy="365125"/>
          </a:xfrm>
        </p:spPr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695978" y="6356350"/>
            <a:ext cx="6800045" cy="365125"/>
          </a:xfrm>
        </p:spPr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9496023" y="6356350"/>
            <a:ext cx="2245215" cy="365125"/>
          </a:xfrm>
        </p:spPr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52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9901" y="365660"/>
            <a:ext cx="11249698" cy="39904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9900" y="870762"/>
            <a:ext cx="11247192" cy="4286430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 marL="179384" indent="-177796">
              <a:buFont typeface="Wingdings" panose="05000000000000000000" pitchFamily="2" charset="2"/>
              <a:buChar char="q"/>
              <a:defRPr baseline="0">
                <a:solidFill>
                  <a:schemeClr val="bg2"/>
                </a:solidFill>
              </a:defRPr>
            </a:lvl2pPr>
            <a:lvl3pPr marL="355591" indent="-174620">
              <a:buFont typeface="Wingdings" panose="05000000000000000000" pitchFamily="2" charset="2"/>
              <a:buChar char="§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de-DE"/>
              <a:t>date</a:t>
            </a:r>
            <a:endParaRPr lang="de-DE" altLang="de-D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de-DE"/>
              <a:t>SaCLaB</a:t>
            </a:r>
            <a:endParaRPr lang="de-DE" alt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14C8-F7F2-4E05-9CAE-DDD3D22A4BE8}" type="slidenum">
              <a:rPr lang="de-DE" altLang="de-DE" smtClean="0"/>
              <a:pPr/>
              <a:t>‹N°›</a:t>
            </a:fld>
            <a:endParaRPr lang="de-DE" altLang="de-DE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8688288" y="116632"/>
            <a:ext cx="3266785" cy="144463"/>
          </a:xfrm>
        </p:spPr>
        <p:txBody>
          <a:bodyPr/>
          <a:lstStyle>
            <a:lvl1pPr algn="r">
              <a:defRPr sz="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dirty="0"/>
              <a:t>[Indicate confidentiality here]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2228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auto">
          <a:xfrm>
            <a:off x="-99588" y="108000"/>
            <a:ext cx="12394194" cy="10440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 bwMode="auto">
          <a:xfrm>
            <a:off x="450761" y="360000"/>
            <a:ext cx="11290478" cy="577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0762" y="1234800"/>
            <a:ext cx="11290478" cy="49262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80000" lvl="0" indent="-360000">
              <a:spcAft>
                <a:spcPts val="600"/>
              </a:spcAft>
              <a:defRPr/>
            </a:pPr>
            <a:r>
              <a:rPr lang="en-US"/>
              <a:t>Click to edit Master text styles</a:t>
            </a:r>
            <a:endParaRPr/>
          </a:p>
          <a:p>
            <a:pPr lvl="1" indent="-288000">
              <a:spcAft>
                <a:spcPts val="500"/>
              </a:spcAft>
              <a:defRPr/>
            </a:pPr>
            <a:r>
              <a:rPr lang="en-US"/>
              <a:t>Second level</a:t>
            </a:r>
            <a:endParaRPr/>
          </a:p>
          <a:p>
            <a:pPr lvl="2" indent="-288000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0762" y="6356350"/>
            <a:ext cx="22452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695978" y="6356350"/>
            <a:ext cx="68000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SaCLaB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496023" y="6356350"/>
            <a:ext cx="2245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  <p:cxnSp>
        <p:nvCxnSpPr>
          <p:cNvPr id="10" name="Straight Connector 7"/>
          <p:cNvCxnSpPr>
            <a:cxnSpLocks/>
          </p:cNvCxnSpPr>
          <p:nvPr/>
        </p:nvCxnSpPr>
        <p:spPr bwMode="auto">
          <a:xfrm>
            <a:off x="450761" y="6289890"/>
            <a:ext cx="11290477" cy="0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14"/>
          <a:stretch/>
        </p:blipFill>
        <p:spPr bwMode="auto">
          <a:xfrm>
            <a:off x="10187737" y="276240"/>
            <a:ext cx="1090933" cy="655561"/>
          </a:xfrm>
          <a:prstGeom prst="rect">
            <a:avLst/>
          </a:prstGeom>
        </p:spPr>
      </p:pic>
      <p:pic>
        <p:nvPicPr>
          <p:cNvPr id="12" name="Picture 14" descr="A picture containing drawing, food, light&#10;&#10;Description automatically generated"/>
          <p:cNvPicPr>
            <a:picLocks noChangeAspect="1"/>
          </p:cNvPicPr>
          <p:nvPr userDrawn="1"/>
        </p:nvPicPr>
        <p:blipFill>
          <a:blip r:embed="rId15"/>
          <a:srcRect l="7812" t="15646" r="3903" b="12688"/>
          <a:stretch/>
        </p:blipFill>
        <p:spPr bwMode="auto">
          <a:xfrm>
            <a:off x="11425908" y="392855"/>
            <a:ext cx="734494" cy="48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82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>
        <a:lnSpc>
          <a:spcPct val="90000"/>
        </a:lnSpc>
        <a:spcBef>
          <a:spcPts val="0"/>
        </a:spcBef>
        <a:buNone/>
        <a:defRPr sz="2400" b="1" cap="none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0000" indent="-228600" algn="l" defTabSz="914400">
        <a:lnSpc>
          <a:spcPct val="90000"/>
        </a:lnSpc>
        <a:spcBef>
          <a:spcPts val="1800"/>
        </a:spcBef>
        <a:buClr>
          <a:schemeClr val="accent3"/>
        </a:buClr>
        <a:buFont typeface="Wingdings"/>
        <a:buChar char="§"/>
        <a:defRPr lang="en-US" sz="24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00000"/>
        </a:lnSpc>
        <a:spcBef>
          <a:spcPts val="500"/>
        </a:spcBef>
        <a:buClr>
          <a:schemeClr val="accent3"/>
        </a:buClr>
        <a:buFont typeface="Arial"/>
        <a:buChar char="•"/>
        <a:defRPr lang="en-US" sz="20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Clr>
          <a:schemeClr val="accent3"/>
        </a:buClr>
        <a:buFont typeface="Wingdings"/>
        <a:buChar char="ü"/>
        <a:defRPr lang="en-US" sz="16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Clr>
          <a:schemeClr val="accent3"/>
        </a:buClr>
        <a:buFont typeface="Wingdings"/>
        <a:buChar char="§"/>
        <a:defRPr lang="en-US" sz="14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Clr>
          <a:schemeClr val="accent3"/>
        </a:buClr>
        <a:buFont typeface="Wingdings"/>
        <a:buChar char="§"/>
        <a:defRPr lang="en-GB" sz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chart" Target="../charts/chart1.xml"/><Relationship Id="rId4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27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18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10" Type="http://schemas.openxmlformats.org/officeDocument/2006/relationships/image" Target="../media/image6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news.bbc.co.uk/2/hi/science/nature/8442090.st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hyperlink" Target="https://www.goldprice.org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chart" Target="../charts/char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chart" Target="../charts/char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5E129B32-ACD7-5548-915F-213E95B9A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E3BB4D6D-277A-ED49-8167-DF1E04745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1B7839-4E02-4926-82DE-D4F65430B72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76D6EB46-473F-6F27-C8DC-88366EC3B053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13" name="Sous-titre 7">
            <a:extLst>
              <a:ext uri="{FF2B5EF4-FFF2-40B4-BE49-F238E27FC236}">
                <a16:creationId xmlns:a16="http://schemas.microsoft.com/office/drawing/2014/main" id="{68916C25-6D65-7F82-B94D-9A0FDAA3FBAB}"/>
              </a:ext>
            </a:extLst>
          </p:cNvPr>
          <p:cNvSpPr>
            <a:spLocks noGrp="1"/>
          </p:cNvSpPr>
          <p:nvPr/>
        </p:nvSpPr>
        <p:spPr bwMode="auto">
          <a:xfrm>
            <a:off x="275882" y="3431492"/>
            <a:ext cx="11688956" cy="174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bg2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4pPr>
            <a:lvl5pPr marL="1971675" indent="-1793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9pPr>
          </a:lstStyle>
          <a:p>
            <a:r>
              <a:rPr lang="en-GB" sz="2000" b="1" dirty="0">
                <a:solidFill>
                  <a:srgbClr val="44546A"/>
                </a:solidFill>
                <a:latin typeface="Arial"/>
                <a:ea typeface="ＭＳ Ｐゴシック"/>
              </a:rPr>
              <a:t>Conall DE PAOR</a:t>
            </a:r>
            <a:endParaRPr lang="en-GB" sz="2000" dirty="0">
              <a:solidFill>
                <a:srgbClr val="44546A"/>
              </a:solidFill>
            </a:endParaRPr>
          </a:p>
          <a:p>
            <a:r>
              <a:rPr lang="en-GB" sz="1600" b="1" i="1" dirty="0">
                <a:solidFill>
                  <a:srgbClr val="44546A"/>
                </a:solidFill>
                <a:latin typeface="Arial"/>
                <a:ea typeface="ＭＳ Ｐゴシック"/>
              </a:rPr>
              <a:t>1st year PhD student</a:t>
            </a:r>
          </a:p>
          <a:p>
            <a:r>
              <a:rPr lang="en-GB" sz="1600" b="1" i="1" dirty="0">
                <a:solidFill>
                  <a:srgbClr val="44546A"/>
                </a:solidFill>
                <a:latin typeface="Arial"/>
                <a:ea typeface="ＭＳ Ｐゴシック"/>
                <a:cs typeface="Arial"/>
              </a:rPr>
              <a:t>ISAE-SUPAERO, DCAS, </a:t>
            </a:r>
            <a:r>
              <a:rPr lang="en-GB" sz="1600" b="1" i="1" dirty="0" err="1">
                <a:solidFill>
                  <a:srgbClr val="44546A"/>
                </a:solidFill>
                <a:latin typeface="Arial"/>
                <a:ea typeface="ＭＳ Ｐゴシック"/>
                <a:cs typeface="Arial"/>
              </a:rPr>
              <a:t>SaCLaB</a:t>
            </a:r>
            <a:endParaRPr lang="en-GB" sz="1600" dirty="0">
              <a:solidFill>
                <a:srgbClr val="44546A"/>
              </a:solidFill>
            </a:endParaRPr>
          </a:p>
          <a:p>
            <a:r>
              <a:rPr lang="en-GB" sz="1600" b="1" i="1" dirty="0">
                <a:solidFill>
                  <a:srgbClr val="44546A"/>
                </a:solidFill>
                <a:latin typeface="Arial"/>
                <a:ea typeface="ＭＳ Ｐゴシック"/>
              </a:rPr>
              <a:t>ALTEN SO</a:t>
            </a:r>
          </a:p>
          <a:p>
            <a:r>
              <a:rPr lang="en-GB" sz="1600" b="1" i="1" dirty="0">
                <a:solidFill>
                  <a:srgbClr val="44546A"/>
                </a:solidFill>
                <a:latin typeface="Arial"/>
                <a:ea typeface="ＭＳ Ｐゴシック"/>
              </a:rPr>
              <a:t>ANRT</a:t>
            </a:r>
          </a:p>
          <a:p>
            <a:endParaRPr lang="en-GB" sz="1600" b="1" i="1" dirty="0">
              <a:solidFill>
                <a:srgbClr val="44546A"/>
              </a:solidFill>
              <a:latin typeface="Arial" charset="0"/>
              <a:ea typeface="ＭＳ Ｐゴシック" charset="0"/>
            </a:endParaRPr>
          </a:p>
          <a:p>
            <a:endParaRPr lang="en-GB" sz="1600" b="1" dirty="0">
              <a:solidFill>
                <a:srgbClr val="44546A"/>
              </a:solidFill>
              <a:latin typeface="Arial" charset="0"/>
              <a:ea typeface="ＭＳ Ｐゴシック" charset="0"/>
            </a:endParaRPr>
          </a:p>
          <a:p>
            <a:r>
              <a:rPr lang="en-GB" sz="1600" b="1" u="sng" dirty="0">
                <a:solidFill>
                  <a:srgbClr val="44546A"/>
                </a:solidFill>
                <a:latin typeface="Arial"/>
                <a:ea typeface="ＭＳ Ｐゴシック"/>
              </a:rPr>
              <a:t>Supervisors :</a:t>
            </a:r>
            <a:r>
              <a:rPr lang="en-GB" sz="1600" b="1" dirty="0">
                <a:solidFill>
                  <a:srgbClr val="44546A"/>
                </a:solidFill>
                <a:latin typeface="Arial"/>
                <a:ea typeface="ＭＳ Ｐゴシック"/>
              </a:rPr>
              <a:t> Stéphanie LIZY-DESTREZ, Joan-Pau SANCHEZ-CUARTIELLES, Julien LAFFORGUE, Sebastien MAES</a:t>
            </a:r>
            <a:endParaRPr lang="en-GB" sz="1600" b="1" dirty="0">
              <a:solidFill>
                <a:srgbClr val="44546A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" name="Titre 6">
            <a:extLst>
              <a:ext uri="{FF2B5EF4-FFF2-40B4-BE49-F238E27FC236}">
                <a16:creationId xmlns:a16="http://schemas.microsoft.com/office/drawing/2014/main" id="{4D566CFB-D74B-44D5-5897-06AFC9EEC647}"/>
              </a:ext>
            </a:extLst>
          </p:cNvPr>
          <p:cNvSpPr txBox="1">
            <a:spLocks/>
          </p:cNvSpPr>
          <p:nvPr/>
        </p:nvSpPr>
        <p:spPr bwMode="auto">
          <a:xfrm>
            <a:off x="275882" y="1731526"/>
            <a:ext cx="11766594" cy="1297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GB" kern="0" dirty="0">
                <a:solidFill>
                  <a:srgbClr val="44546A"/>
                </a:solidFill>
                <a:latin typeface="Arial"/>
                <a:ea typeface="+mj-lt"/>
                <a:cs typeface="+mj-lt"/>
              </a:rPr>
              <a:t>MONEYBALL</a:t>
            </a:r>
          </a:p>
          <a:p>
            <a:r>
              <a:rPr lang="en-US" b="0" kern="0" dirty="0">
                <a:solidFill>
                  <a:srgbClr val="44546A"/>
                </a:solidFill>
                <a:latin typeface="Arial"/>
                <a:ea typeface="+mj-lt"/>
                <a:cs typeface="+mj-lt"/>
              </a:rPr>
              <a:t>NEW SIZING RULES AND ALGORITHMS FOR UNMANNED LUNAR LANDERS</a:t>
            </a:r>
            <a:endParaRPr lang="fr-FR" b="0" dirty="0">
              <a:solidFill>
                <a:srgbClr val="44546A"/>
              </a:solidFill>
              <a:latin typeface="Arial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886A546-27E9-B5E0-65B8-5F2C2021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5468" y="3431492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645FB33-8F56-FA20-30CB-1B990B7BC2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204" b="16762"/>
          <a:stretch/>
        </p:blipFill>
        <p:spPr>
          <a:xfrm>
            <a:off x="7964085" y="3655750"/>
            <a:ext cx="834446" cy="1297427"/>
          </a:xfrm>
          <a:prstGeom prst="rect">
            <a:avLst/>
          </a:prstGeom>
        </p:spPr>
      </p:pic>
      <p:pic>
        <p:nvPicPr>
          <p:cNvPr id="6" name="Image 5" descr="Une image contenant texte, graphisme, Graphique, affiche&#10;&#10;Le contenu généré par l’IA peut être incorrect.">
            <a:extLst>
              <a:ext uri="{FF2B5EF4-FFF2-40B4-BE49-F238E27FC236}">
                <a16:creationId xmlns:a16="http://schemas.microsoft.com/office/drawing/2014/main" id="{5C265683-D74F-37CB-215A-76126F1D7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1612" y="3715945"/>
            <a:ext cx="1699508" cy="103129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865A940-737F-A39A-67B0-C03D5B6C9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860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AE33-8B05-7515-9D52-7C57E89F4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6604C1-BABC-A4FF-8C9E-C1D0A7F4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Arial"/>
              </a:rPr>
              <a:t>Contents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DF81A575-709B-67EC-EA75-1FECDFE3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A27067C-7079-0C26-C09A-DAC027DC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1B7839-4E02-4926-82DE-D4F65430B72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896485BE-F33B-F2E5-5A7E-EAF6933FF8C9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EF1C94B7-E11B-5E03-AC6F-A4C6C8F10822}"/>
              </a:ext>
            </a:extLst>
          </p:cNvPr>
          <p:cNvSpPr txBox="1">
            <a:spLocks/>
          </p:cNvSpPr>
          <p:nvPr/>
        </p:nvSpPr>
        <p:spPr bwMode="auto">
          <a:xfrm>
            <a:off x="700089" y="1521738"/>
            <a:ext cx="8250372" cy="3592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pPr marL="342900" indent="-342900">
              <a:buAutoNum type="romanUcPeriod"/>
            </a:pPr>
            <a:r>
              <a:rPr lang="en-US" kern="0" dirty="0">
                <a:solidFill>
                  <a:schemeClr val="tx1"/>
                </a:solidFill>
                <a:latin typeface="Arial"/>
              </a:rPr>
              <a:t>Context – Why Size Unmanned Lunar Landers</a:t>
            </a:r>
            <a:endParaRPr lang="en-US" kern="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42900" indent="-342900">
              <a:buAutoNum type="romanUcPeriod"/>
            </a:pPr>
            <a:endParaRPr lang="en-US" kern="0" dirty="0">
              <a:solidFill>
                <a:schemeClr val="tx1"/>
              </a:solidFill>
              <a:latin typeface="Arial"/>
            </a:endParaRPr>
          </a:p>
          <a:p>
            <a:pPr marL="342900" indent="-342900">
              <a:buAutoNum type="romanUcPeriod"/>
            </a:pPr>
            <a:r>
              <a:rPr lang="en-IE" kern="0" dirty="0">
                <a:solidFill>
                  <a:schemeClr val="tx1"/>
                </a:solidFill>
                <a:latin typeface="Arial"/>
              </a:rPr>
              <a:t> Methods – Statistical Models and Sizing Algorithms</a:t>
            </a:r>
            <a:endParaRPr lang="fr-FR" dirty="0">
              <a:solidFill>
                <a:schemeClr val="tx1"/>
              </a:solidFill>
              <a:latin typeface="Arial"/>
            </a:endParaRPr>
          </a:p>
          <a:p>
            <a:pPr marL="342900" indent="-342900">
              <a:buAutoNum type="romanUcPeriod"/>
            </a:pPr>
            <a:endParaRPr lang="en-US" kern="0" dirty="0">
              <a:solidFill>
                <a:schemeClr val="tx1"/>
              </a:solidFill>
              <a:latin typeface="Arial"/>
            </a:endParaRPr>
          </a:p>
          <a:p>
            <a:pPr marL="342900" indent="-342900">
              <a:buAutoNum type="romanUcPeriod"/>
            </a:pPr>
            <a:r>
              <a:rPr lang="en-US" kern="0" dirty="0">
                <a:solidFill>
                  <a:schemeClr val="tx1"/>
                </a:solidFill>
                <a:latin typeface="Arial"/>
              </a:rPr>
              <a:t> Results – Sizing Case Studies</a:t>
            </a:r>
          </a:p>
          <a:p>
            <a:pPr marL="342900" indent="-342900">
              <a:buAutoNum type="romanUcPeriod"/>
            </a:pPr>
            <a:endParaRPr lang="en-US" kern="0" dirty="0">
              <a:solidFill>
                <a:schemeClr val="tx1"/>
              </a:solidFill>
              <a:latin typeface="Arial"/>
            </a:endParaRPr>
          </a:p>
          <a:p>
            <a:pPr marL="342900" indent="-342900">
              <a:buAutoNum type="romanUcPeriod"/>
            </a:pPr>
            <a:r>
              <a:rPr lang="en-US" kern="0" dirty="0">
                <a:solidFill>
                  <a:schemeClr val="tx1"/>
                </a:solidFill>
                <a:latin typeface="Arial"/>
              </a:rPr>
              <a:t>Conclusion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C94D15-DD43-EF94-90BE-676CB6BCB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52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9DFB-AB33-1090-265C-8E38F5245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BE88929-7055-4F72-300E-86CA240B8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F6CE915F-9B0D-6DCA-8F1D-AD14CD9F1FA0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CE64A5A-50D2-2BC4-D05E-433A4ECF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Context – The High Cost of Space Systems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DBA48FA-B0A0-2098-A16F-01907439C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3">
                <a:extLst>
                  <a:ext uri="{FF2B5EF4-FFF2-40B4-BE49-F238E27FC236}">
                    <a16:creationId xmlns:a16="http://schemas.microsoft.com/office/drawing/2014/main" id="{7F4DD96A-7D5E-851F-FE53-AD5C098BF5C9}"/>
                  </a:ext>
                </a:extLst>
              </p:cNvPr>
              <p:cNvSpPr txBox="1"/>
              <p:nvPr/>
            </p:nvSpPr>
            <p:spPr>
              <a:xfrm>
                <a:off x="870723" y="1244434"/>
                <a:ext cx="10720358" cy="859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Tx/>
                  <a:tabLst/>
                  <a:defRPr/>
                </a:pPr>
                <a:r>
                  <a:rPr kumimoji="0" lang="en-IE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A key variable: The Life Cycle Cos</a:t>
                </a:r>
                <a:r>
                  <a:rPr lang="en-IE" sz="240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en-GB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en-GB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𝐿</m:t>
                        </m:r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sub>
                    </m:sSub>
                    <m:r>
                      <a:rPr kumimoji="0" lang="en-IE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Arial"/>
                      </a:rPr>
                      <m:t>= </m:t>
                    </m:r>
                    <m:sSub>
                      <m:sSubPr>
                        <m:ctrlP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𝑑𝑑𝑡𝑒</m:t>
                        </m:r>
                      </m:sub>
                    </m:sSub>
                    <m:r>
                      <a:rPr kumimoji="0" lang="en-IE" sz="24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𝑝</m:t>
                        </m:r>
                      </m:sub>
                    </m:sSub>
                    <m:r>
                      <a:rPr kumimoji="0" lang="en-IE" sz="24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𝑜</m:t>
                        </m:r>
                      </m:sub>
                    </m:sSub>
                    <m:r>
                      <a:rPr kumimoji="0" lang="en-IE" sz="24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𝑑</m:t>
                        </m:r>
                      </m:sub>
                    </m:sSub>
                  </m:oMath>
                </a14:m>
                <a:endPara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2" name="ZoneTexte 3">
                <a:extLst>
                  <a:ext uri="{FF2B5EF4-FFF2-40B4-BE49-F238E27FC236}">
                    <a16:creationId xmlns:a16="http://schemas.microsoft.com/office/drawing/2014/main" id="{7F4DD96A-7D5E-851F-FE53-AD5C098BF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23" y="1244434"/>
                <a:ext cx="10720358" cy="859531"/>
              </a:xfrm>
              <a:prstGeom prst="rect">
                <a:avLst/>
              </a:prstGeom>
              <a:blipFill>
                <a:blip r:embed="rId3"/>
                <a:stretch>
                  <a:fillRect l="-910" t="-2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e 15">
            <a:extLst>
              <a:ext uri="{FF2B5EF4-FFF2-40B4-BE49-F238E27FC236}">
                <a16:creationId xmlns:a16="http://schemas.microsoft.com/office/drawing/2014/main" id="{3D14C2BD-A2D6-0C02-2DFC-1882DCDD4A36}"/>
              </a:ext>
            </a:extLst>
          </p:cNvPr>
          <p:cNvGrpSpPr/>
          <p:nvPr/>
        </p:nvGrpSpPr>
        <p:grpSpPr>
          <a:xfrm>
            <a:off x="808300" y="1837649"/>
            <a:ext cx="2755541" cy="2234560"/>
            <a:chOff x="767836" y="2553232"/>
            <a:chExt cx="5269391" cy="4273120"/>
          </a:xfrm>
        </p:grpSpPr>
        <p:sp>
          <p:nvSpPr>
            <p:cNvPr id="17" name="ZoneTexte 3">
              <a:extLst>
                <a:ext uri="{FF2B5EF4-FFF2-40B4-BE49-F238E27FC236}">
                  <a16:creationId xmlns:a16="http://schemas.microsoft.com/office/drawing/2014/main" id="{EDF148D8-1A88-5A66-4175-CB8151F05663}"/>
                </a:ext>
              </a:extLst>
            </p:cNvPr>
            <p:cNvSpPr txBox="1"/>
            <p:nvPr/>
          </p:nvSpPr>
          <p:spPr>
            <a:xfrm>
              <a:off x="858983" y="5501580"/>
              <a:ext cx="238803" cy="5172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 sz="200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D35DEFD1-7ECE-1BE3-6ACB-8CD63EEF53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68" t="20719" r="15279" b="6730"/>
            <a:stretch/>
          </p:blipFill>
          <p:spPr bwMode="auto">
            <a:xfrm>
              <a:off x="858983" y="2553232"/>
              <a:ext cx="5178244" cy="38836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ZoneTexte 13">
              <a:extLst>
                <a:ext uri="{FF2B5EF4-FFF2-40B4-BE49-F238E27FC236}">
                  <a16:creationId xmlns:a16="http://schemas.microsoft.com/office/drawing/2014/main" id="{8DB2E6EB-C0F6-B884-F33D-692031782776}"/>
                </a:ext>
              </a:extLst>
            </p:cNvPr>
            <p:cNvSpPr txBox="1"/>
            <p:nvPr/>
          </p:nvSpPr>
          <p:spPr>
            <a:xfrm>
              <a:off x="767836" y="6428487"/>
              <a:ext cx="4667324" cy="397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IE" i="1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Harrison Schmitt in 1972</a:t>
              </a:r>
              <a:endParaRPr lang="fr-FR" i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23">
                <a:extLst>
                  <a:ext uri="{FF2B5EF4-FFF2-40B4-BE49-F238E27FC236}">
                    <a16:creationId xmlns:a16="http://schemas.microsoft.com/office/drawing/2014/main" id="{E52FBF84-254A-BF30-5C93-FC4DB5DF67FA}"/>
                  </a:ext>
                </a:extLst>
              </p:cNvPr>
              <p:cNvSpPr txBox="1"/>
              <p:nvPr/>
            </p:nvSpPr>
            <p:spPr>
              <a:xfrm>
                <a:off x="798969" y="4013369"/>
                <a:ext cx="3329758" cy="21352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𝐿</m:t>
                          </m:r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IE" sz="180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257 Billion USD (2020) [1]</a:t>
                </a:r>
                <a:b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</a:br>
                <a: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Samples 671 Million USD/kg</a:t>
                </a:r>
                <a:b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</a:br>
                <a: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Earth Diamonds: 20.8M$/kg[2]</a:t>
                </a:r>
              </a:p>
              <a:p>
                <a:pPr>
                  <a:lnSpc>
                    <a:spcPct val="150000"/>
                  </a:lnSpc>
                </a:pPr>
                <a:endParaRPr lang="en-IE" sz="180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20" name="ZoneTexte 23">
                <a:extLst>
                  <a:ext uri="{FF2B5EF4-FFF2-40B4-BE49-F238E27FC236}">
                    <a16:creationId xmlns:a16="http://schemas.microsoft.com/office/drawing/2014/main" id="{E52FBF84-254A-BF30-5C93-FC4DB5DF6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69" y="4013369"/>
                <a:ext cx="3329758" cy="2135200"/>
              </a:xfrm>
              <a:prstGeom prst="rect">
                <a:avLst/>
              </a:prstGeom>
              <a:blipFill>
                <a:blip r:embed="rId5"/>
                <a:stretch>
                  <a:fillRect l="-1465" r="-12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">
            <a:extLst>
              <a:ext uri="{FF2B5EF4-FFF2-40B4-BE49-F238E27FC236}">
                <a16:creationId xmlns:a16="http://schemas.microsoft.com/office/drawing/2014/main" id="{8FB83DC5-671D-9DC6-0F34-F76DF0747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780" y="1831428"/>
            <a:ext cx="3026781" cy="200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13">
            <a:extLst>
              <a:ext uri="{FF2B5EF4-FFF2-40B4-BE49-F238E27FC236}">
                <a16:creationId xmlns:a16="http://schemas.microsoft.com/office/drawing/2014/main" id="{150B93DC-2F7C-D248-FCF7-03100A55D495}"/>
              </a:ext>
            </a:extLst>
          </p:cNvPr>
          <p:cNvSpPr txBox="1"/>
          <p:nvPr/>
        </p:nvSpPr>
        <p:spPr>
          <a:xfrm>
            <a:off x="4403749" y="3906302"/>
            <a:ext cx="2440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i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International Space Station</a:t>
            </a:r>
            <a:endParaRPr lang="fr-FR" i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3">
                <a:extLst>
                  <a:ext uri="{FF2B5EF4-FFF2-40B4-BE49-F238E27FC236}">
                    <a16:creationId xmlns:a16="http://schemas.microsoft.com/office/drawing/2014/main" id="{0873D8C6-9752-1384-63B2-48239575D3B0}"/>
                  </a:ext>
                </a:extLst>
              </p:cNvPr>
              <p:cNvSpPr txBox="1"/>
              <p:nvPr/>
            </p:nvSpPr>
            <p:spPr>
              <a:xfrm>
                <a:off x="4403749" y="4151568"/>
                <a:ext cx="2858475" cy="920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𝑎𝑞</m:t>
                          </m:r>
                        </m:sub>
                      </m:sSub>
                      <m:r>
                        <a:rPr kumimoji="0" lang="en-IE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𝑑𝑑𝑡𝑒</m:t>
                          </m:r>
                        </m:sub>
                      </m:sSub>
                      <m:r>
                        <a:rPr kumimoji="0" lang="en-IE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E" sz="180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150 Billion USD (2010) [3]</a:t>
                </a:r>
              </a:p>
            </p:txBody>
          </p:sp>
        </mc:Choice>
        <mc:Fallback xmlns="">
          <p:sp>
            <p:nvSpPr>
              <p:cNvPr id="23" name="ZoneTexte 23">
                <a:extLst>
                  <a:ext uri="{FF2B5EF4-FFF2-40B4-BE49-F238E27FC236}">
                    <a16:creationId xmlns:a16="http://schemas.microsoft.com/office/drawing/2014/main" id="{0873D8C6-9752-1384-63B2-48239575D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749" y="4151568"/>
                <a:ext cx="2858475" cy="920830"/>
              </a:xfrm>
              <a:prstGeom prst="rect">
                <a:avLst/>
              </a:prstGeom>
              <a:blipFill>
                <a:blip r:embed="rId7"/>
                <a:stretch>
                  <a:fillRect l="-1706" r="-1279" b="-993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Image 23">
            <a:extLst>
              <a:ext uri="{FF2B5EF4-FFF2-40B4-BE49-F238E27FC236}">
                <a16:creationId xmlns:a16="http://schemas.microsoft.com/office/drawing/2014/main" id="{287E80D6-7F10-29B7-B131-C0CBE0C13B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831" y="1891225"/>
            <a:ext cx="2707877" cy="1553109"/>
          </a:xfrm>
          <a:prstGeom prst="rect">
            <a:avLst/>
          </a:prstGeom>
        </p:spPr>
      </p:pic>
      <p:sp>
        <p:nvSpPr>
          <p:cNvPr id="25" name="ZoneTexte 13">
            <a:extLst>
              <a:ext uri="{FF2B5EF4-FFF2-40B4-BE49-F238E27FC236}">
                <a16:creationId xmlns:a16="http://schemas.microsoft.com/office/drawing/2014/main" id="{5965E12D-B519-7C7B-93BF-2F004D3C24F6}"/>
              </a:ext>
            </a:extLst>
          </p:cNvPr>
          <p:cNvSpPr txBox="1"/>
          <p:nvPr/>
        </p:nvSpPr>
        <p:spPr>
          <a:xfrm>
            <a:off x="8429831" y="3491203"/>
            <a:ext cx="2440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i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Galileo Constellation</a:t>
            </a:r>
            <a:endParaRPr lang="fr-FR" i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3">
                <a:extLst>
                  <a:ext uri="{FF2B5EF4-FFF2-40B4-BE49-F238E27FC236}">
                    <a16:creationId xmlns:a16="http://schemas.microsoft.com/office/drawing/2014/main" id="{01E281FF-AFCF-4C2B-CE42-F92A75BA44CC}"/>
                  </a:ext>
                </a:extLst>
              </p:cNvPr>
              <p:cNvSpPr txBox="1"/>
              <p:nvPr/>
            </p:nvSpPr>
            <p:spPr>
              <a:xfrm>
                <a:off x="8277431" y="3831204"/>
                <a:ext cx="3785011" cy="12324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𝑎𝑞</m:t>
                          </m:r>
                        </m:sub>
                      </m:sSub>
                      <m:r>
                        <a:rPr kumimoji="0" lang="en-IE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𝑑𝑑𝑡𝑒</m:t>
                          </m:r>
                        </m:sub>
                      </m:sSub>
                      <m:r>
                        <a:rPr kumimoji="0" lang="en-IE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E" sz="180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Block 1 : €953M (2010)[4]</a:t>
                </a:r>
              </a:p>
              <a:p>
                <a: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Equivalent mass of gold: €462M [5]</a:t>
                </a:r>
              </a:p>
            </p:txBody>
          </p:sp>
        </mc:Choice>
        <mc:Fallback xmlns="">
          <p:sp>
            <p:nvSpPr>
              <p:cNvPr id="26" name="ZoneTexte 23">
                <a:extLst>
                  <a:ext uri="{FF2B5EF4-FFF2-40B4-BE49-F238E27FC236}">
                    <a16:creationId xmlns:a16="http://schemas.microsoft.com/office/drawing/2014/main" id="{01E281FF-AFCF-4C2B-CE42-F92A75BA4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7431" y="3831204"/>
                <a:ext cx="3785011" cy="1232453"/>
              </a:xfrm>
              <a:prstGeom prst="rect">
                <a:avLst/>
              </a:prstGeom>
              <a:blipFill>
                <a:blip r:embed="rId9"/>
                <a:stretch>
                  <a:fillRect l="-1449" r="-483" b="-64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ZoneTexte 3">
            <a:extLst>
              <a:ext uri="{FF2B5EF4-FFF2-40B4-BE49-F238E27FC236}">
                <a16:creationId xmlns:a16="http://schemas.microsoft.com/office/drawing/2014/main" id="{7367E4A9-6006-9F37-54C6-4566606BA6AA}"/>
              </a:ext>
            </a:extLst>
          </p:cNvPr>
          <p:cNvSpPr txBox="1"/>
          <p:nvPr/>
        </p:nvSpPr>
        <p:spPr>
          <a:xfrm>
            <a:off x="1592475" y="5733071"/>
            <a:ext cx="8857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E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To enable more like this, it needs to be cheaper</a:t>
            </a:r>
            <a:endParaRPr kumimoji="0" lang="fr-FR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636FC0A-19FB-46F1-5DD9-A0178FE945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34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A7449-35D0-DFB9-1CD5-D8C9F528F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D0ED02DD-A670-8C3F-4E30-8A727A7F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BABCF84E-0C37-3ED5-21FF-85A77945F3D7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F5DC7902-7F3A-B69E-798C-1BC462D4B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Context – The High Cost of Space Systems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1E36F54-506D-CC5B-C5F4-109335460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4</a:t>
            </a:fld>
            <a:endParaRPr lang="en-GB"/>
          </a:p>
        </p:txBody>
      </p:sp>
      <p:sp>
        <p:nvSpPr>
          <p:cNvPr id="12" name="ZoneTexte 3">
            <a:extLst>
              <a:ext uri="{FF2B5EF4-FFF2-40B4-BE49-F238E27FC236}">
                <a16:creationId xmlns:a16="http://schemas.microsoft.com/office/drawing/2014/main" id="{2488E316-B6FA-7C34-C2ED-6E2DE9BF4893}"/>
              </a:ext>
            </a:extLst>
          </p:cNvPr>
          <p:cNvSpPr txBox="1"/>
          <p:nvPr/>
        </p:nvSpPr>
        <p:spPr>
          <a:xfrm>
            <a:off x="525842" y="1244434"/>
            <a:ext cx="10720358" cy="859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A key to control </a:t>
            </a:r>
            <a:r>
              <a:rPr kumimoji="0" lang="fr-FR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costs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: </a:t>
            </a:r>
            <a:r>
              <a:rPr kumimoji="0" lang="fr-FR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Estimate</a:t>
            </a:r>
            <a:endParaRPr kumimoji="0" lang="fr-FR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AF97C3D-0FA7-97EE-3329-9AEDA25D6ABC}"/>
              </a:ext>
            </a:extLst>
          </p:cNvPr>
          <p:cNvGrpSpPr/>
          <p:nvPr/>
        </p:nvGrpSpPr>
        <p:grpSpPr>
          <a:xfrm>
            <a:off x="1800157" y="1674199"/>
            <a:ext cx="7511794" cy="4256440"/>
            <a:chOff x="5038104" y="2026860"/>
            <a:chExt cx="6427329" cy="3787127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D7B70758-85BB-9171-31EA-A6980BCB1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38104" y="2026860"/>
              <a:ext cx="6427329" cy="378712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00327F-2C9A-2A24-56A3-DF34E481A4E5}"/>
                </a:ext>
              </a:extLst>
            </p:cNvPr>
            <p:cNvSpPr/>
            <p:nvPr/>
          </p:nvSpPr>
          <p:spPr>
            <a:xfrm>
              <a:off x="7025951" y="2103965"/>
              <a:ext cx="2677886" cy="14323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0C373F8D-4CDB-D734-F76D-5787E6AD0234}"/>
              </a:ext>
            </a:extLst>
          </p:cNvPr>
          <p:cNvSpPr txBox="1"/>
          <p:nvPr/>
        </p:nvSpPr>
        <p:spPr>
          <a:xfrm>
            <a:off x="1759428" y="5945537"/>
            <a:ext cx="5192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i="1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Eilingsfeld</a:t>
            </a:r>
            <a:r>
              <a:rPr lang="en-IE" i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F. Cost Engineering Lectures 2019 [3]</a:t>
            </a:r>
            <a:endParaRPr lang="fr-FR" i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0E16E28-0B96-3477-8FA0-8CA1AC2E7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06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E23EB-175C-D50E-6DFB-EF8E847EE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DCA7E11B-7F28-6F6B-931D-962B4BEB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F4BAA6C4-5BBF-423F-8C47-37960EF3ADF7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18A01935-C6C9-1993-8204-F1FF07B65191}"/>
              </a:ext>
            </a:extLst>
          </p:cNvPr>
          <p:cNvSpPr txBox="1">
            <a:spLocks/>
          </p:cNvSpPr>
          <p:nvPr/>
        </p:nvSpPr>
        <p:spPr bwMode="auto">
          <a:xfrm>
            <a:off x="471036" y="2284063"/>
            <a:ext cx="5759866" cy="3329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Order of Magnitude Estimation</a:t>
            </a:r>
          </a:p>
          <a:p>
            <a:endParaRPr lang="en-US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Component list </a:t>
            </a:r>
          </a:p>
          <a:p>
            <a:endParaRPr lang="en-US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Parametric Cost Estimation Models (CEMs)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QuickCost</a:t>
            </a: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NAFCOM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Advanced Mission Cost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Small Spacecraft Cost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TruePlanning</a:t>
            </a: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D331D768-F7FB-FA78-D879-7ED42BF1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Context – How to Estimate Cost and Why Size</a:t>
            </a:r>
          </a:p>
        </p:txBody>
      </p:sp>
      <p:sp>
        <p:nvSpPr>
          <p:cNvPr id="13" name="Titre 4">
            <a:extLst>
              <a:ext uri="{FF2B5EF4-FFF2-40B4-BE49-F238E27FC236}">
                <a16:creationId xmlns:a16="http://schemas.microsoft.com/office/drawing/2014/main" id="{DCD8DC3F-E958-BDE1-E316-F6DA064956E0}"/>
              </a:ext>
            </a:extLst>
          </p:cNvPr>
          <p:cNvSpPr txBox="1">
            <a:spLocks/>
          </p:cNvSpPr>
          <p:nvPr/>
        </p:nvSpPr>
        <p:spPr bwMode="auto">
          <a:xfrm>
            <a:off x="7384863" y="2411774"/>
            <a:ext cx="4324823" cy="2863616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FAA26D3D-D897-4be2-8F04-BA451C77F1D7}">
              <ma14:placeholderFlag xmlns:lc="http://schemas.openxmlformats.org/drawingml/2006/lockedCanvas" xmlns:ma14="http://schemas.microsoft.com/office/mac/drawingml/2011/main" xmlns="" xmlns:a14="http://schemas.microsoft.com/office/drawing/2010/main" xmlns:mc="http://schemas.openxmlformats.org/markup-compatibility/2006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pPr algn="ctr"/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All these CEMs require the mass properties of the (sub)system as an input</a:t>
            </a: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Even better at subsystem level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9246F75-8687-AC49-E26F-1E3FFD7B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5</a:t>
            </a:fld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30A936A-875D-8DBB-2212-C2ED2E73C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3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044E-1421-8A46-E447-9F27CFDA3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D4E29-2003-4ABD-9A61-24078D41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Context – Why Study Unmanned Lunar Landers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EB5ACAB-E9A7-AF23-1C8A-4F30B778A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96CECA17-8DDB-08C8-6C3B-F41119FD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1B7839-4E02-4926-82DE-D4F65430B72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E6F7D807-AA23-7803-B53B-63A2DC957534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Graphique 4">
                <a:extLst>
                  <a:ext uri="{FF2B5EF4-FFF2-40B4-BE49-F238E27FC236}">
                    <a16:creationId xmlns:a16="http://schemas.microsoft.com/office/drawing/2014/main" id="{8936B78F-6038-7A39-C78F-884C8D53C4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63257027"/>
                  </p:ext>
                </p:extLst>
              </p:nvPr>
            </p:nvGraphicFramePr>
            <p:xfrm>
              <a:off x="791201" y="1504252"/>
              <a:ext cx="4488165" cy="402528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5" name="Graphique 4">
                <a:extLst>
                  <a:ext uri="{FF2B5EF4-FFF2-40B4-BE49-F238E27FC236}">
                    <a16:creationId xmlns:a16="http://schemas.microsoft.com/office/drawing/2014/main" id="{8936B78F-6038-7A39-C78F-884C8D53C4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1201" y="1504252"/>
                <a:ext cx="4488165" cy="40252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DCADD2DC-37B5-B574-5572-1DDA494054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8755092"/>
              </p:ext>
            </p:extLst>
          </p:nvPr>
        </p:nvGraphicFramePr>
        <p:xfrm>
          <a:off x="6341703" y="1504252"/>
          <a:ext cx="4964206" cy="4077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1E30B716-FF90-9433-06D6-6ACFC24805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69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FD8A8-B3A3-CCA7-97AF-6673AF0D1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63D0F583-DCC4-F03C-726E-F62BCDFA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D821ECC5-167B-C6CC-F27B-CF90BE15DDEC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F479D2C7-939F-4CCE-88AB-A7039F84A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Current Topic – Mass Estimation of Lunar Landers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7CAFE9-D2E9-A0BE-2F13-4ECADEA45AA7}"/>
              </a:ext>
            </a:extLst>
          </p:cNvPr>
          <p:cNvSpPr/>
          <p:nvPr/>
        </p:nvSpPr>
        <p:spPr>
          <a:xfrm>
            <a:off x="3143250" y="2981526"/>
            <a:ext cx="2495550" cy="132258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Lunar Lander</a:t>
            </a:r>
          </a:p>
          <a:p>
            <a:pPr algn="ctr"/>
            <a:r>
              <a:rPr lang="en-IE" sz="2400" dirty="0"/>
              <a:t>Sizing Algorithm</a:t>
            </a:r>
            <a:endParaRPr lang="fr-F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F1C4632E-26B1-AA9B-B4A1-F8347837725C}"/>
                  </a:ext>
                </a:extLst>
              </p:cNvPr>
              <p:cNvSpPr txBox="1"/>
              <p:nvPr/>
            </p:nvSpPr>
            <p:spPr>
              <a:xfrm>
                <a:off x="1650206" y="3000951"/>
                <a:ext cx="781756" cy="1274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IE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8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IE" sz="2800" b="0" i="1" smtClean="0"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E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E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F1C4632E-26B1-AA9B-B4A1-F83478377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206" y="3000951"/>
                <a:ext cx="781756" cy="1274516"/>
              </a:xfrm>
              <a:prstGeom prst="rect">
                <a:avLst/>
              </a:prstGeom>
              <a:blipFill>
                <a:blip r:embed="rId3"/>
                <a:stretch>
                  <a:fillRect r="-46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3060CD75-1F55-F1D9-94E5-E0CA23C2C442}"/>
              </a:ext>
            </a:extLst>
          </p:cNvPr>
          <p:cNvCxnSpPr>
            <a:cxnSpLocks/>
            <a:stCxn id="15" idx="3"/>
            <a:endCxn id="2" idx="1"/>
          </p:cNvCxnSpPr>
          <p:nvPr/>
        </p:nvCxnSpPr>
        <p:spPr>
          <a:xfrm>
            <a:off x="2431962" y="3638209"/>
            <a:ext cx="711288" cy="4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D5567779-0A1E-58CC-DD75-DBAB187DD8C1}"/>
                  </a:ext>
                </a:extLst>
              </p:cNvPr>
              <p:cNvSpPr txBox="1"/>
              <p:nvPr/>
            </p:nvSpPr>
            <p:spPr>
              <a:xfrm>
                <a:off x="6350088" y="2195964"/>
                <a:ext cx="781756" cy="2874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𝑝𝑟𝑜𝑝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𝑠𝑡𝑟𝑢𝑐𝑡𝑢𝑟𝑒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𝑝𝑟𝑜𝑝𝑢𝑙𝑠𝑖𝑜𝑛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𝑡h𝑒𝑟𝑚𝑎𝑙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𝑎𝑣𝑖𝑜𝑛𝑖𝑐𝑠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𝑝𝑜𝑤𝑒𝑟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𝑜𝑡h𝑒𝑟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D5567779-0A1E-58CC-DD75-DBAB187DD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88" y="2195964"/>
                <a:ext cx="781756" cy="2874057"/>
              </a:xfrm>
              <a:prstGeom prst="rect">
                <a:avLst/>
              </a:prstGeom>
              <a:blipFill>
                <a:blip r:embed="rId4"/>
                <a:stretch>
                  <a:fillRect r="-1281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591F9A87-FF2E-E389-59A0-E2DFDE586C4D}"/>
              </a:ext>
            </a:extLst>
          </p:cNvPr>
          <p:cNvCxnSpPr>
            <a:cxnSpLocks/>
            <a:stCxn id="2" idx="3"/>
            <a:endCxn id="18" idx="1"/>
          </p:cNvCxnSpPr>
          <p:nvPr/>
        </p:nvCxnSpPr>
        <p:spPr>
          <a:xfrm flipV="1">
            <a:off x="5638800" y="3632993"/>
            <a:ext cx="711288" cy="98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18A68299-4E2C-4D7C-923F-F7A9D87B6170}"/>
              </a:ext>
            </a:extLst>
          </p:cNvPr>
          <p:cNvCxnSpPr>
            <a:cxnSpLocks/>
          </p:cNvCxnSpPr>
          <p:nvPr/>
        </p:nvCxnSpPr>
        <p:spPr>
          <a:xfrm>
            <a:off x="8120743" y="3659981"/>
            <a:ext cx="8617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re 4">
            <a:extLst>
              <a:ext uri="{FF2B5EF4-FFF2-40B4-BE49-F238E27FC236}">
                <a16:creationId xmlns:a16="http://schemas.microsoft.com/office/drawing/2014/main" id="{4AAD38FE-26B7-7702-45CA-B70763B22B65}"/>
              </a:ext>
            </a:extLst>
          </p:cNvPr>
          <p:cNvSpPr txBox="1">
            <a:spLocks/>
          </p:cNvSpPr>
          <p:nvPr/>
        </p:nvSpPr>
        <p:spPr bwMode="auto">
          <a:xfrm>
            <a:off x="9420628" y="3339901"/>
            <a:ext cx="2771372" cy="971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Cost estimation</a:t>
            </a: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8" name="Titre 4">
            <a:extLst>
              <a:ext uri="{FF2B5EF4-FFF2-40B4-BE49-F238E27FC236}">
                <a16:creationId xmlns:a16="http://schemas.microsoft.com/office/drawing/2014/main" id="{AAAEE256-D16A-E4EF-DBA9-30C0AC2ABCA3}"/>
              </a:ext>
            </a:extLst>
          </p:cNvPr>
          <p:cNvSpPr txBox="1">
            <a:spLocks/>
          </p:cNvSpPr>
          <p:nvPr/>
        </p:nvSpPr>
        <p:spPr bwMode="auto">
          <a:xfrm>
            <a:off x="265839" y="1606451"/>
            <a:ext cx="8250372" cy="691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Study Objective: </a:t>
            </a:r>
            <a:b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</a:b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9" name="Titre 4">
            <a:extLst>
              <a:ext uri="{FF2B5EF4-FFF2-40B4-BE49-F238E27FC236}">
                <a16:creationId xmlns:a16="http://schemas.microsoft.com/office/drawing/2014/main" id="{58696F71-FDE7-96E8-0FBA-6A8EDF8169B9}"/>
              </a:ext>
            </a:extLst>
          </p:cNvPr>
          <p:cNvSpPr txBox="1">
            <a:spLocks/>
          </p:cNvSpPr>
          <p:nvPr/>
        </p:nvSpPr>
        <p:spPr bwMode="auto">
          <a:xfrm>
            <a:off x="265839" y="5435302"/>
            <a:ext cx="8250372" cy="691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Study case: lunar missions</a:t>
            </a: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6" name="Espace réservé du numéro de diapositive 35">
            <a:extLst>
              <a:ext uri="{FF2B5EF4-FFF2-40B4-BE49-F238E27FC236}">
                <a16:creationId xmlns:a16="http://schemas.microsoft.com/office/drawing/2014/main" id="{048985FD-32E4-4473-466F-5BBB5FED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7</a:t>
            </a:fld>
            <a:endParaRPr lang="en-GB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18AD8C7-0490-3C02-88BD-76DEAAE62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1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2AAA9-DADD-9090-8BDA-A80900898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4F5DB71D-A188-AE06-DA71-BF49238D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298D6AAF-026A-5741-E2D5-6B023F2281A9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D0D90C25-28DF-51BC-507E-42ECF2D9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Methods – Statistical Models and Sizing Algorithms</a:t>
            </a:r>
          </a:p>
        </p:txBody>
      </p:sp>
      <p:sp>
        <p:nvSpPr>
          <p:cNvPr id="2" name="Titre 4">
            <a:extLst>
              <a:ext uri="{FF2B5EF4-FFF2-40B4-BE49-F238E27FC236}">
                <a16:creationId xmlns:a16="http://schemas.microsoft.com/office/drawing/2014/main" id="{61CE3266-17D6-F1F1-F3E2-634986C187DC}"/>
              </a:ext>
            </a:extLst>
          </p:cNvPr>
          <p:cNvSpPr txBox="1">
            <a:spLocks/>
          </p:cNvSpPr>
          <p:nvPr/>
        </p:nvSpPr>
        <p:spPr bwMode="auto">
          <a:xfrm>
            <a:off x="450761" y="1258276"/>
            <a:ext cx="9331413" cy="88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Application case: Lunar Surface Missions</a:t>
            </a:r>
          </a:p>
          <a:p>
            <a:r>
              <a:rPr lang="en-US" sz="180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How to approach this mass estimation problem: Reference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14">
                <a:extLst>
                  <a:ext uri="{FF2B5EF4-FFF2-40B4-BE49-F238E27FC236}">
                    <a16:creationId xmlns:a16="http://schemas.microsoft.com/office/drawing/2014/main" id="{9E4CCB04-FF41-CCF6-D7A7-D8FD79353CA1}"/>
                  </a:ext>
                </a:extLst>
              </p:cNvPr>
              <p:cNvSpPr txBox="1"/>
              <p:nvPr/>
            </p:nvSpPr>
            <p:spPr>
              <a:xfrm>
                <a:off x="700089" y="2143125"/>
                <a:ext cx="4814886" cy="15625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IE" sz="2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The </a:t>
                </a:r>
                <a:r>
                  <a:rPr lang="en-IE" sz="200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Generic</a:t>
                </a:r>
                <a:r>
                  <a:rPr kumimoji="0" lang="en-IE" sz="2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 Lander Model 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IE" sz="20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Single stage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E" sz="2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Unmanned</a:t>
                </a:r>
              </a:p>
              <a:p>
                <a:pPr marL="571500" lvl="0" indent="-571500">
                  <a:buClr>
                    <a:schemeClr val="tx1"/>
                  </a:buClr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E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𝑡</m:t>
                        </m:r>
                      </m:sub>
                    </m:sSub>
                    <m:r>
                      <a:rPr lang="en-IE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</m:t>
                    </m:r>
                    <m:sSub>
                      <m:sSubPr>
                        <m:ctrlPr>
                          <a:rPr lang="en-I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IE" sz="2000" b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+</a:t>
                </a:r>
                <a:r>
                  <a:rPr lang="en-IE" sz="2000" dirty="0">
                    <a:solidFill>
                      <a:schemeClr val="tx1"/>
                    </a:solidFill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E" sz="2000" b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+</a:t>
                </a:r>
                <a:r>
                  <a:rPr lang="en-IE" sz="2000" dirty="0">
                    <a:solidFill>
                      <a:schemeClr val="tx1"/>
                    </a:solidFill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𝑝</m:t>
                        </m:r>
                        <m:r>
                          <a:rPr lang="en-IE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𝑟𝑜𝑝</m:t>
                        </m:r>
                      </m:sub>
                    </m:sSub>
                  </m:oMath>
                </a14:m>
                <a:endParaRPr lang="en-IE" sz="2000" b="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E" sz="2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LOX-LH2, LOX-LCH4, N2O4-AZ</a:t>
                </a:r>
              </a:p>
            </p:txBody>
          </p:sp>
        </mc:Choice>
        <mc:Fallback xmlns="">
          <p:sp>
            <p:nvSpPr>
              <p:cNvPr id="5" name="ZoneTexte 14">
                <a:extLst>
                  <a:ext uri="{FF2B5EF4-FFF2-40B4-BE49-F238E27FC236}">
                    <a16:creationId xmlns:a16="http://schemas.microsoft.com/office/drawing/2014/main" id="{9E4CCB04-FF41-CCF6-D7A7-D8FD79353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89" y="2143125"/>
                <a:ext cx="4814886" cy="1562544"/>
              </a:xfrm>
              <a:prstGeom prst="rect">
                <a:avLst/>
              </a:prstGeom>
              <a:blipFill>
                <a:blip r:embed="rId3"/>
                <a:stretch>
                  <a:fillRect l="-3291" t="-4688" b="-93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AF3D118-9F38-053C-CEAE-984043BC0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49" y="3759023"/>
            <a:ext cx="2412498" cy="2589983"/>
          </a:xfrm>
          <a:prstGeom prst="rect">
            <a:avLst/>
          </a:prstGeom>
        </p:spPr>
      </p:pic>
      <p:sp>
        <p:nvSpPr>
          <p:cNvPr id="52" name="ZoneTexte 14">
            <a:extLst>
              <a:ext uri="{FF2B5EF4-FFF2-40B4-BE49-F238E27FC236}">
                <a16:creationId xmlns:a16="http://schemas.microsoft.com/office/drawing/2014/main" id="{547C6532-F8A6-6D13-4385-D6667FCE0226}"/>
              </a:ext>
            </a:extLst>
          </p:cNvPr>
          <p:cNvSpPr txBox="1"/>
          <p:nvPr/>
        </p:nvSpPr>
        <p:spPr>
          <a:xfrm>
            <a:off x="7088580" y="2143125"/>
            <a:ext cx="4814886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IE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The Generic Mission Model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E" sz="200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Begin at LLO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E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Land on the surface with all payload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E" sz="200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Return to LLO with some payload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E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Sets the delta-V</a:t>
            </a:r>
          </a:p>
        </p:txBody>
      </p: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AB76F245-2112-BDC7-DBB3-6FFB4EC34604}"/>
              </a:ext>
            </a:extLst>
          </p:cNvPr>
          <p:cNvGrpSpPr/>
          <p:nvPr/>
        </p:nvGrpSpPr>
        <p:grpSpPr>
          <a:xfrm>
            <a:off x="6495692" y="3783770"/>
            <a:ext cx="4986392" cy="2209476"/>
            <a:chOff x="518620" y="1656688"/>
            <a:chExt cx="16240830" cy="7550091"/>
          </a:xfrm>
        </p:grpSpPr>
        <p:cxnSp>
          <p:nvCxnSpPr>
            <p:cNvPr id="54" name="Straight Connector 33">
              <a:extLst>
                <a:ext uri="{FF2B5EF4-FFF2-40B4-BE49-F238E27FC236}">
                  <a16:creationId xmlns:a16="http://schemas.microsoft.com/office/drawing/2014/main" id="{855CA47C-549F-A9C1-E0C4-248D43780B65}"/>
                </a:ext>
              </a:extLst>
            </p:cNvPr>
            <p:cNvCxnSpPr>
              <a:cxnSpLocks/>
            </p:cNvCxnSpPr>
            <p:nvPr/>
          </p:nvCxnSpPr>
          <p:spPr>
            <a:xfrm>
              <a:off x="1939232" y="1956179"/>
              <a:ext cx="14820218" cy="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955C548-B58E-CD56-9356-F8241EB9E7C7}"/>
                </a:ext>
              </a:extLst>
            </p:cNvPr>
            <p:cNvSpPr/>
            <p:nvPr/>
          </p:nvSpPr>
          <p:spPr>
            <a:xfrm>
              <a:off x="518620" y="6783023"/>
              <a:ext cx="15858692" cy="57312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5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56" name="Straight Connector 8">
              <a:extLst>
                <a:ext uri="{FF2B5EF4-FFF2-40B4-BE49-F238E27FC236}">
                  <a16:creationId xmlns:a16="http://schemas.microsoft.com/office/drawing/2014/main" id="{5C27BB07-813D-1B2A-4C6C-35C47687F658}"/>
                </a:ext>
              </a:extLst>
            </p:cNvPr>
            <p:cNvCxnSpPr>
              <a:cxnSpLocks/>
            </p:cNvCxnSpPr>
            <p:nvPr/>
          </p:nvCxnSpPr>
          <p:spPr>
            <a:xfrm>
              <a:off x="1939232" y="1956179"/>
              <a:ext cx="3704258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2">
              <a:extLst>
                <a:ext uri="{FF2B5EF4-FFF2-40B4-BE49-F238E27FC236}">
                  <a16:creationId xmlns:a16="http://schemas.microsoft.com/office/drawing/2014/main" id="{7DF7F3FD-2722-2D95-0CD8-A8EFF28B9C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00641" y="1927605"/>
              <a:ext cx="2695575" cy="4581525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5">
              <a:extLst>
                <a:ext uri="{FF2B5EF4-FFF2-40B4-BE49-F238E27FC236}">
                  <a16:creationId xmlns:a16="http://schemas.microsoft.com/office/drawing/2014/main" id="{39B2DF92-7B8C-A234-3C82-A214D6562C94}"/>
                </a:ext>
              </a:extLst>
            </p:cNvPr>
            <p:cNvCxnSpPr>
              <a:cxnSpLocks/>
            </p:cNvCxnSpPr>
            <p:nvPr/>
          </p:nvCxnSpPr>
          <p:spPr>
            <a:xfrm>
              <a:off x="8548616" y="6661530"/>
              <a:ext cx="3286125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23">
              <a:extLst>
                <a:ext uri="{FF2B5EF4-FFF2-40B4-BE49-F238E27FC236}">
                  <a16:creationId xmlns:a16="http://schemas.microsoft.com/office/drawing/2014/main" id="{2CFA4E19-0167-2B3E-CF62-592AD43425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77591" y="1927605"/>
              <a:ext cx="3057525" cy="476250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31">
              <a:extLst>
                <a:ext uri="{FF2B5EF4-FFF2-40B4-BE49-F238E27FC236}">
                  <a16:creationId xmlns:a16="http://schemas.microsoft.com/office/drawing/2014/main" id="{88DD7AD0-7879-BADF-0661-17B2489139EC}"/>
                </a:ext>
              </a:extLst>
            </p:cNvPr>
            <p:cNvSpPr txBox="1"/>
            <p:nvPr/>
          </p:nvSpPr>
          <p:spPr>
            <a:xfrm>
              <a:off x="518620" y="1656688"/>
              <a:ext cx="1821485" cy="10444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rPr>
                <a:t>LLO</a:t>
              </a:r>
            </a:p>
          </p:txBody>
        </p:sp>
        <p:sp>
          <p:nvSpPr>
            <p:cNvPr id="61" name="TextBox 32">
              <a:extLst>
                <a:ext uri="{FF2B5EF4-FFF2-40B4-BE49-F238E27FC236}">
                  <a16:creationId xmlns:a16="http://schemas.microsoft.com/office/drawing/2014/main" id="{BFA546C0-6B49-7663-8D98-8994A5968587}"/>
                </a:ext>
              </a:extLst>
            </p:cNvPr>
            <p:cNvSpPr txBox="1"/>
            <p:nvPr/>
          </p:nvSpPr>
          <p:spPr>
            <a:xfrm>
              <a:off x="559845" y="6155188"/>
              <a:ext cx="2473272" cy="10444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rPr>
                <a:t>Surface</a:t>
              </a:r>
            </a:p>
          </p:txBody>
        </p:sp>
        <p:cxnSp>
          <p:nvCxnSpPr>
            <p:cNvPr id="62" name="Straight Connector 37">
              <a:extLst>
                <a:ext uri="{FF2B5EF4-FFF2-40B4-BE49-F238E27FC236}">
                  <a16:creationId xmlns:a16="http://schemas.microsoft.com/office/drawing/2014/main" id="{51764AB0-7E4D-258E-074C-228B3562B37F}"/>
                </a:ext>
              </a:extLst>
            </p:cNvPr>
            <p:cNvCxnSpPr>
              <a:cxnSpLocks/>
            </p:cNvCxnSpPr>
            <p:nvPr/>
          </p:nvCxnSpPr>
          <p:spPr>
            <a:xfrm>
              <a:off x="3928184" y="1801505"/>
              <a:ext cx="0" cy="70380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0">
              <a:extLst>
                <a:ext uri="{FF2B5EF4-FFF2-40B4-BE49-F238E27FC236}">
                  <a16:creationId xmlns:a16="http://schemas.microsoft.com/office/drawing/2014/main" id="{3C8A174F-BE8B-73A6-D49A-31E0644AC53C}"/>
                </a:ext>
              </a:extLst>
            </p:cNvPr>
            <p:cNvCxnSpPr>
              <a:cxnSpLocks/>
            </p:cNvCxnSpPr>
            <p:nvPr/>
          </p:nvCxnSpPr>
          <p:spPr>
            <a:xfrm>
              <a:off x="5700641" y="1801505"/>
              <a:ext cx="2843" cy="70380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1">
              <a:extLst>
                <a:ext uri="{FF2B5EF4-FFF2-40B4-BE49-F238E27FC236}">
                  <a16:creationId xmlns:a16="http://schemas.microsoft.com/office/drawing/2014/main" id="{93585234-7C6B-2237-62FB-593B52561C66}"/>
                </a:ext>
              </a:extLst>
            </p:cNvPr>
            <p:cNvCxnSpPr>
              <a:cxnSpLocks/>
            </p:cNvCxnSpPr>
            <p:nvPr/>
          </p:nvCxnSpPr>
          <p:spPr>
            <a:xfrm>
              <a:off x="8548616" y="1801505"/>
              <a:ext cx="0" cy="70380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2">
              <a:extLst>
                <a:ext uri="{FF2B5EF4-FFF2-40B4-BE49-F238E27FC236}">
                  <a16:creationId xmlns:a16="http://schemas.microsoft.com/office/drawing/2014/main" id="{2DFD3B13-797B-4244-1D73-66A7E6BD1937}"/>
                </a:ext>
              </a:extLst>
            </p:cNvPr>
            <p:cNvCxnSpPr>
              <a:cxnSpLocks/>
            </p:cNvCxnSpPr>
            <p:nvPr/>
          </p:nvCxnSpPr>
          <p:spPr>
            <a:xfrm>
              <a:off x="11834741" y="1801505"/>
              <a:ext cx="0" cy="70380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3">
              <a:extLst>
                <a:ext uri="{FF2B5EF4-FFF2-40B4-BE49-F238E27FC236}">
                  <a16:creationId xmlns:a16="http://schemas.microsoft.com/office/drawing/2014/main" id="{9750C4F6-D2BF-0380-095A-706558491541}"/>
                </a:ext>
              </a:extLst>
            </p:cNvPr>
            <p:cNvCxnSpPr>
              <a:cxnSpLocks/>
            </p:cNvCxnSpPr>
            <p:nvPr/>
          </p:nvCxnSpPr>
          <p:spPr>
            <a:xfrm>
              <a:off x="14835116" y="1801505"/>
              <a:ext cx="0" cy="70380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7">
              <a:extLst>
                <a:ext uri="{FF2B5EF4-FFF2-40B4-BE49-F238E27FC236}">
                  <a16:creationId xmlns:a16="http://schemas.microsoft.com/office/drawing/2014/main" id="{7CF72405-0227-0F5F-C087-A4CCDF7CEB59}"/>
                </a:ext>
              </a:extLst>
            </p:cNvPr>
            <p:cNvCxnSpPr>
              <a:cxnSpLocks/>
            </p:cNvCxnSpPr>
            <p:nvPr/>
          </p:nvCxnSpPr>
          <p:spPr>
            <a:xfrm>
              <a:off x="14835116" y="1958171"/>
              <a:ext cx="1924334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31">
              <a:extLst>
                <a:ext uri="{FF2B5EF4-FFF2-40B4-BE49-F238E27FC236}">
                  <a16:creationId xmlns:a16="http://schemas.microsoft.com/office/drawing/2014/main" id="{A9FC6AB9-E71B-2D4B-C768-34805D445AAE}"/>
                </a:ext>
              </a:extLst>
            </p:cNvPr>
            <p:cNvSpPr txBox="1"/>
            <p:nvPr/>
          </p:nvSpPr>
          <p:spPr>
            <a:xfrm>
              <a:off x="565137" y="7630037"/>
              <a:ext cx="2009389" cy="986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GB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rPr>
                <a:t>Phase</a:t>
              </a:r>
            </a:p>
          </p:txBody>
        </p:sp>
        <p:sp>
          <p:nvSpPr>
            <p:cNvPr id="140" name="TextBox 49">
              <a:extLst>
                <a:ext uri="{FF2B5EF4-FFF2-40B4-BE49-F238E27FC236}">
                  <a16:creationId xmlns:a16="http://schemas.microsoft.com/office/drawing/2014/main" id="{64E3A9E9-CC78-D059-9015-9D9594D89C2F}"/>
                </a:ext>
              </a:extLst>
            </p:cNvPr>
            <p:cNvSpPr txBox="1"/>
            <p:nvPr/>
          </p:nvSpPr>
          <p:spPr>
            <a:xfrm>
              <a:off x="3637891" y="7283120"/>
              <a:ext cx="2285370" cy="1392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1 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approach</a:t>
              </a:r>
            </a:p>
          </p:txBody>
        </p:sp>
        <p:sp>
          <p:nvSpPr>
            <p:cNvPr id="141" name="TextBox 50">
              <a:extLst>
                <a:ext uri="{FF2B5EF4-FFF2-40B4-BE49-F238E27FC236}">
                  <a16:creationId xmlns:a16="http://schemas.microsoft.com/office/drawing/2014/main" id="{62945EAB-1492-4195-F3F9-5ACBD2FE3966}"/>
                </a:ext>
              </a:extLst>
            </p:cNvPr>
            <p:cNvSpPr txBox="1"/>
            <p:nvPr/>
          </p:nvSpPr>
          <p:spPr>
            <a:xfrm>
              <a:off x="2452071" y="7292046"/>
              <a:ext cx="1604218" cy="1392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0 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Orbit</a:t>
              </a:r>
            </a:p>
          </p:txBody>
        </p:sp>
        <p:sp>
          <p:nvSpPr>
            <p:cNvPr id="142" name="TextBox 51">
              <a:extLst>
                <a:ext uri="{FF2B5EF4-FFF2-40B4-BE49-F238E27FC236}">
                  <a16:creationId xmlns:a16="http://schemas.microsoft.com/office/drawing/2014/main" id="{A12C3B5F-1ED5-4272-4E92-6181DCC65235}"/>
                </a:ext>
              </a:extLst>
            </p:cNvPr>
            <p:cNvSpPr txBox="1"/>
            <p:nvPr/>
          </p:nvSpPr>
          <p:spPr>
            <a:xfrm>
              <a:off x="5785300" y="7283120"/>
              <a:ext cx="2776960" cy="1914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2 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Descent &amp; Landing</a:t>
              </a:r>
            </a:p>
          </p:txBody>
        </p:sp>
        <p:sp>
          <p:nvSpPr>
            <p:cNvPr id="143" name="TextBox 52">
              <a:extLst>
                <a:ext uri="{FF2B5EF4-FFF2-40B4-BE49-F238E27FC236}">
                  <a16:creationId xmlns:a16="http://schemas.microsoft.com/office/drawing/2014/main" id="{649DBCD0-01F3-949C-E008-99FC723EF78D}"/>
                </a:ext>
              </a:extLst>
            </p:cNvPr>
            <p:cNvSpPr txBox="1"/>
            <p:nvPr/>
          </p:nvSpPr>
          <p:spPr>
            <a:xfrm>
              <a:off x="8619415" y="7292042"/>
              <a:ext cx="3075128" cy="1914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3 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Payload deployment</a:t>
              </a:r>
            </a:p>
          </p:txBody>
        </p:sp>
        <p:sp>
          <p:nvSpPr>
            <p:cNvPr id="144" name="TextBox 53">
              <a:extLst>
                <a:ext uri="{FF2B5EF4-FFF2-40B4-BE49-F238E27FC236}">
                  <a16:creationId xmlns:a16="http://schemas.microsoft.com/office/drawing/2014/main" id="{E26B671F-E23C-8926-1FDB-42BB31C44D21}"/>
                </a:ext>
              </a:extLst>
            </p:cNvPr>
            <p:cNvSpPr txBox="1"/>
            <p:nvPr/>
          </p:nvSpPr>
          <p:spPr>
            <a:xfrm>
              <a:off x="11778649" y="7281305"/>
              <a:ext cx="3242501" cy="19147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4 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Liftoff &amp; 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Orbit insertion</a:t>
              </a:r>
            </a:p>
          </p:txBody>
        </p:sp>
        <p:sp>
          <p:nvSpPr>
            <p:cNvPr id="145" name="TextBox 54">
              <a:extLst>
                <a:ext uri="{FF2B5EF4-FFF2-40B4-BE49-F238E27FC236}">
                  <a16:creationId xmlns:a16="http://schemas.microsoft.com/office/drawing/2014/main" id="{3781A8E7-93BD-80AF-0970-9F853B4FE4E9}"/>
                </a:ext>
              </a:extLst>
            </p:cNvPr>
            <p:cNvSpPr txBox="1"/>
            <p:nvPr/>
          </p:nvSpPr>
          <p:spPr>
            <a:xfrm>
              <a:off x="14955785" y="7364714"/>
              <a:ext cx="1604218" cy="1392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5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Orbit</a:t>
              </a:r>
            </a:p>
          </p:txBody>
        </p:sp>
      </p:grpSp>
      <p:graphicFrame>
        <p:nvGraphicFramePr>
          <p:cNvPr id="146" name="Tableau 145">
            <a:extLst>
              <a:ext uri="{FF2B5EF4-FFF2-40B4-BE49-F238E27FC236}">
                <a16:creationId xmlns:a16="http://schemas.microsoft.com/office/drawing/2014/main" id="{5838D905-F893-1C66-3226-1B24044E3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704880"/>
              </p:ext>
            </p:extLst>
          </p:nvPr>
        </p:nvGraphicFramePr>
        <p:xfrm>
          <a:off x="3743352" y="4138798"/>
          <a:ext cx="1478915" cy="19147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8915">
                  <a:extLst>
                    <a:ext uri="{9D8B030D-6E8A-4147-A177-3AD203B41FA5}">
                      <a16:colId xmlns:a16="http://schemas.microsoft.com/office/drawing/2014/main" val="486052484"/>
                    </a:ext>
                  </a:extLst>
                </a:gridCol>
              </a:tblGrid>
              <a:tr h="321993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Avionics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674248"/>
                  </a:ext>
                </a:extLst>
              </a:tr>
              <a:tr h="321993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Propulsion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156370"/>
                  </a:ext>
                </a:extLst>
              </a:tr>
              <a:tr h="321993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Structure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487635"/>
                  </a:ext>
                </a:extLst>
              </a:tr>
              <a:tr h="321993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Power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29917"/>
                  </a:ext>
                </a:extLst>
              </a:tr>
              <a:tr h="321993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Thermal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939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Other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11994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ZoneTexte 147">
                <a:extLst>
                  <a:ext uri="{FF2B5EF4-FFF2-40B4-BE49-F238E27FC236}">
                    <a16:creationId xmlns:a16="http://schemas.microsoft.com/office/drawing/2014/main" id="{F1934804-9DE5-BEFF-FB97-2A6CCBE1E6CA}"/>
                  </a:ext>
                </a:extLst>
              </p:cNvPr>
              <p:cNvSpPr txBox="1"/>
              <p:nvPr/>
            </p:nvSpPr>
            <p:spPr>
              <a:xfrm>
                <a:off x="2934008" y="4869348"/>
                <a:ext cx="5068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8" name="ZoneTexte 147">
                <a:extLst>
                  <a:ext uri="{FF2B5EF4-FFF2-40B4-BE49-F238E27FC236}">
                    <a16:creationId xmlns:a16="http://schemas.microsoft.com/office/drawing/2014/main" id="{F1934804-9DE5-BEFF-FB97-2A6CCBE1E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008" y="4869348"/>
                <a:ext cx="506802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Accolade ouvrante 148">
            <a:extLst>
              <a:ext uri="{FF2B5EF4-FFF2-40B4-BE49-F238E27FC236}">
                <a16:creationId xmlns:a16="http://schemas.microsoft.com/office/drawing/2014/main" id="{D693F849-0FBF-D8BF-13A3-76D47A6666F6}"/>
              </a:ext>
            </a:extLst>
          </p:cNvPr>
          <p:cNvSpPr/>
          <p:nvPr/>
        </p:nvSpPr>
        <p:spPr>
          <a:xfrm>
            <a:off x="3447815" y="4138798"/>
            <a:ext cx="245425" cy="1914765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0" name="Espace réservé du numéro de diapositive 149">
            <a:extLst>
              <a:ext uri="{FF2B5EF4-FFF2-40B4-BE49-F238E27FC236}">
                <a16:creationId xmlns:a16="http://schemas.microsoft.com/office/drawing/2014/main" id="{E424DF4D-0B17-66D3-3E09-A0771F492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8</a:t>
            </a:fld>
            <a:endParaRPr lang="en-GB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7ECB53F-39B8-137D-24B3-9D3232D75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4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2" grpId="0"/>
      <p:bldP spid="148" grpId="0"/>
      <p:bldP spid="1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A507D-028A-19B4-E6AE-74F4544B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3C00B0E-7C11-D4EE-92BB-F04B83A284D3}"/>
              </a:ext>
            </a:extLst>
          </p:cNvPr>
          <p:cNvSpPr/>
          <p:nvPr/>
        </p:nvSpPr>
        <p:spPr>
          <a:xfrm>
            <a:off x="5997658" y="4032988"/>
            <a:ext cx="361287" cy="2894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26920B-D601-A1E0-3BAA-007B961BF2C2}"/>
              </a:ext>
            </a:extLst>
          </p:cNvPr>
          <p:cNvSpPr/>
          <p:nvPr/>
        </p:nvSpPr>
        <p:spPr>
          <a:xfrm>
            <a:off x="6885992" y="3750906"/>
            <a:ext cx="503853" cy="4528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FE3B75-A597-5F72-661F-CF04D637EA66}"/>
              </a:ext>
            </a:extLst>
          </p:cNvPr>
          <p:cNvSpPr/>
          <p:nvPr/>
        </p:nvSpPr>
        <p:spPr>
          <a:xfrm>
            <a:off x="5372188" y="4010779"/>
            <a:ext cx="413386" cy="390748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74F44E-9A71-34BA-64F1-EB2DEBCB79F8}"/>
              </a:ext>
            </a:extLst>
          </p:cNvPr>
          <p:cNvSpPr/>
          <p:nvPr/>
        </p:nvSpPr>
        <p:spPr>
          <a:xfrm>
            <a:off x="4244284" y="4010778"/>
            <a:ext cx="715993" cy="45288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670692C2-F10E-7082-94D1-B226AFF8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02092EDB-81CB-E577-8CC7-1BA41FF4E6A5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07B793A-1608-34BA-D60C-99A207CF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Methods – Statistical Models and Sizing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14">
                <a:extLst>
                  <a:ext uri="{FF2B5EF4-FFF2-40B4-BE49-F238E27FC236}">
                    <a16:creationId xmlns:a16="http://schemas.microsoft.com/office/drawing/2014/main" id="{481B6B8F-2997-2C16-FFEB-7059F558A2E1}"/>
                  </a:ext>
                </a:extLst>
              </p:cNvPr>
              <p:cNvSpPr txBox="1"/>
              <p:nvPr/>
            </p:nvSpPr>
            <p:spPr>
              <a:xfrm>
                <a:off x="3691812" y="2221218"/>
                <a:ext cx="4814886" cy="24251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∆</m:t>
                      </m:r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𝑉</m:t>
                      </m:r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= </m:t>
                      </m:r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  <m:t>𝐼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  <m:t>𝑠𝑝</m:t>
                          </m:r>
                        </m:sub>
                      </m:sSub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  <m:t>𝑔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kumimoji="0" lang="en-IE" sz="2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ln</m:t>
                      </m:r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⁡(</m:t>
                      </m:r>
                      <m:f>
                        <m:f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𝑚</m:t>
                              </m:r>
                            </m:e>
                            <m:sub>
                              <m: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𝑚</m:t>
                              </m:r>
                            </m:e>
                            <m:sub>
                              <m: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kumimoji="0" lang="en-IE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𝑚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𝑖</m:t>
                          </m:r>
                        </m:sub>
                      </m:sSub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𝑚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en-IE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𝑚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𝑓</m:t>
                          </m:r>
                        </m:sub>
                      </m:sSub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𝑚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𝑝</m:t>
                          </m:r>
                        </m:sub>
                      </m:sSub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𝑚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0" lang="en-IE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  <a:p>
                <a:pPr>
                  <a:defRPr/>
                </a:pPr>
                <a:endParaRPr kumimoji="0" lang="en-IE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𝑚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𝑝𝑟𝑜𝑝</m:t>
                          </m:r>
                        </m:sub>
                      </m:sSub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=(</m:t>
                      </m:r>
                      <m:sSub>
                        <m:sSubPr>
                          <m:ctrlP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𝑑</m:t>
                          </m:r>
                        </m:sub>
                      </m:sSub>
                      <m:r>
                        <a:rPr lang="en-IE" sz="20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+</m:t>
                      </m:r>
                      <m:sSub>
                        <m:sSubPr>
                          <m:ctrlP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20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𝑝</m:t>
                          </m:r>
                        </m:sub>
                      </m:sSub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)</m:t>
                      </m:r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∙(</m:t>
                      </m:r>
                      <m:sSup>
                        <m:sSup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</m:ctrlPr>
                            </m:fPr>
                            <m:num>
                              <m: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∆</m:t>
                              </m:r>
                              <m: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𝑉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𝑠𝑝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−1)</m:t>
                      </m:r>
                    </m:oMath>
                  </m:oMathPara>
                </a14:m>
                <a:endParaRPr kumimoji="0" lang="en-IE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IE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</p:txBody>
          </p:sp>
        </mc:Choice>
        <mc:Fallback xmlns="">
          <p:sp>
            <p:nvSpPr>
              <p:cNvPr id="5" name="ZoneTexte 14">
                <a:extLst>
                  <a:ext uri="{FF2B5EF4-FFF2-40B4-BE49-F238E27FC236}">
                    <a16:creationId xmlns:a16="http://schemas.microsoft.com/office/drawing/2014/main" id="{481B6B8F-2997-2C16-FFEB-7059F558A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812" y="2221218"/>
                <a:ext cx="4814886" cy="24251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65D06A2-F8D8-A2D9-0A40-9174D6D76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" y="1977975"/>
            <a:ext cx="2412498" cy="25899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F8CC5F7-712D-8440-2E52-D8D4B37BD814}"/>
                  </a:ext>
                </a:extLst>
              </p:cNvPr>
              <p:cNvSpPr txBox="1"/>
              <p:nvPr/>
            </p:nvSpPr>
            <p:spPr>
              <a:xfrm>
                <a:off x="554335" y="4636782"/>
                <a:ext cx="6198078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𝑡</m:t>
                        </m:r>
                      </m:sub>
                    </m:sSub>
                    <m:r>
                      <a:rPr lang="en-IE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</m:t>
                    </m:r>
                    <m:sSub>
                      <m:sSubPr>
                        <m:ctrlPr>
                          <a:rPr lang="en-IE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GB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IE" sz="1800" b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+</a:t>
                </a:r>
                <a:r>
                  <a:rPr lang="en-IE" sz="1800" dirty="0">
                    <a:solidFill>
                      <a:schemeClr val="tx1"/>
                    </a:solidFill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E" sz="1800" b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+</a:t>
                </a:r>
                <a:r>
                  <a:rPr lang="en-IE" sz="1800" dirty="0">
                    <a:solidFill>
                      <a:schemeClr val="tx1"/>
                    </a:solidFill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GB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𝑝</m:t>
                        </m:r>
                        <m:r>
                          <a:rPr lang="en-IE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𝑟𝑜𝑝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F8CC5F7-712D-8440-2E52-D8D4B37BD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35" y="4636782"/>
                <a:ext cx="6198078" cy="390748"/>
              </a:xfrm>
              <a:prstGeom prst="rect">
                <a:avLst/>
              </a:prstGeom>
              <a:blipFill>
                <a:blip r:embed="rId5"/>
                <a:stretch>
                  <a:fillRect t="-3125" b="-2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re 4">
            <a:extLst>
              <a:ext uri="{FF2B5EF4-FFF2-40B4-BE49-F238E27FC236}">
                <a16:creationId xmlns:a16="http://schemas.microsoft.com/office/drawing/2014/main" id="{F00AF63C-49B9-01D7-EBEC-A076621BBB89}"/>
              </a:ext>
            </a:extLst>
          </p:cNvPr>
          <p:cNvSpPr txBox="1">
            <a:spLocks/>
          </p:cNvSpPr>
          <p:nvPr/>
        </p:nvSpPr>
        <p:spPr bwMode="auto">
          <a:xfrm>
            <a:off x="700177" y="5150783"/>
            <a:ext cx="10953391" cy="88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xmlns:a14="http://schemas.microsoft.com/office/drawing/2010/main" xmlns:mc="http://schemas.openxmlformats.org/markup-compatibility/2006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Solution: find additional relations </a:t>
            </a:r>
            <a:r>
              <a:rPr lang="fr-FR" b="0" kern="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using</a:t>
            </a:r>
            <a:r>
              <a:rPr lang="fr-FR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fr-FR" b="0" kern="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statistics</a:t>
            </a:r>
            <a:endParaRPr lang="en-US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14FBFCA7-C5E1-8C2C-DA0C-4B91EE14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9</a:t>
            </a:fld>
            <a:endParaRPr lang="en-GB"/>
          </a:p>
        </p:txBody>
      </p:sp>
      <p:sp>
        <p:nvSpPr>
          <p:cNvPr id="15" name="Titre 4">
            <a:extLst>
              <a:ext uri="{FF2B5EF4-FFF2-40B4-BE49-F238E27FC236}">
                <a16:creationId xmlns:a16="http://schemas.microsoft.com/office/drawing/2014/main" id="{1EED8C85-D4CC-C01E-9B29-5C257FAB9F2E}"/>
              </a:ext>
            </a:extLst>
          </p:cNvPr>
          <p:cNvSpPr txBox="1">
            <a:spLocks/>
          </p:cNvSpPr>
          <p:nvPr/>
        </p:nvSpPr>
        <p:spPr bwMode="auto">
          <a:xfrm>
            <a:off x="308878" y="1093126"/>
            <a:ext cx="10953391" cy="88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First: for system level mass properties</a:t>
            </a:r>
            <a:endParaRPr lang="en-US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" name="Titre 4">
            <a:extLst>
              <a:ext uri="{FF2B5EF4-FFF2-40B4-BE49-F238E27FC236}">
                <a16:creationId xmlns:a16="http://schemas.microsoft.com/office/drawing/2014/main" id="{216747E0-0537-38C5-C849-E3F42C1841C5}"/>
              </a:ext>
            </a:extLst>
          </p:cNvPr>
          <p:cNvSpPr txBox="1">
            <a:spLocks/>
          </p:cNvSpPr>
          <p:nvPr/>
        </p:nvSpPr>
        <p:spPr bwMode="auto">
          <a:xfrm>
            <a:off x="4244284" y="4463665"/>
            <a:ext cx="1713116" cy="88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xmlns:a14="http://schemas.microsoft.com/office/drawing/2010/main" xmlns:mc="http://schemas.openxmlformats.org/markup-compatibility/2006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fr-FR" b="0" kern="0" dirty="0" err="1">
                <a:solidFill>
                  <a:schemeClr val="accent2">
                    <a:lumMod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Unknown</a:t>
            </a:r>
            <a:endParaRPr lang="en-US" b="0" kern="0" dirty="0">
              <a:solidFill>
                <a:schemeClr val="accent2">
                  <a:lumMod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58E30506-0803-1255-7192-FB60BAC0F289}"/>
              </a:ext>
            </a:extLst>
          </p:cNvPr>
          <p:cNvSpPr txBox="1">
            <a:spLocks/>
          </p:cNvSpPr>
          <p:nvPr/>
        </p:nvSpPr>
        <p:spPr bwMode="auto">
          <a:xfrm>
            <a:off x="8017721" y="3125930"/>
            <a:ext cx="1713116" cy="88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xmlns:a14="http://schemas.microsoft.com/office/drawing/2010/main" xmlns:mc="http://schemas.openxmlformats.org/markup-compatibility/2006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fr-FR" b="0" kern="0" dirty="0" err="1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known</a:t>
            </a:r>
            <a:endParaRPr lang="en-US" b="0" kern="0" dirty="0">
              <a:solidFill>
                <a:schemeClr val="accent6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97DAEDF-B53A-93A3-5B02-5FD70D69C4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2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12" grpId="0" animBg="1"/>
      <p:bldP spid="11" grpId="0" animBg="1"/>
      <p:bldP spid="13" grpId="0"/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416F-1853-7E51-2B37-AFAAE0D93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9F50E405-FD0B-97E4-1EC0-BDC59ECF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A262D73B-E156-AAAA-B55F-E6E20667ED78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7EB6C6B-1AD2-79D6-386B-AF6AE942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Methods – Databases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7441ED3-5E50-D3F8-A270-387201934B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480"/>
          <a:stretch/>
        </p:blipFill>
        <p:spPr>
          <a:xfrm>
            <a:off x="4552715" y="1238079"/>
            <a:ext cx="6980525" cy="116868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A00EEC3-6BD0-5FF3-069A-8077ACDAD4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4884"/>
          <a:stretch/>
        </p:blipFill>
        <p:spPr>
          <a:xfrm>
            <a:off x="4552715" y="2814895"/>
            <a:ext cx="7026249" cy="10039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969A0FAD-6C79-1FDD-0B8F-9AB779AC167B}"/>
                  </a:ext>
                </a:extLst>
              </p:cNvPr>
              <p:cNvSpPr txBox="1"/>
              <p:nvPr/>
            </p:nvSpPr>
            <p:spPr>
              <a:xfrm>
                <a:off x="4640695" y="2472337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969A0FAD-6C79-1FDD-0B8F-9AB779AC1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695" y="2472337"/>
                <a:ext cx="128240" cy="276999"/>
              </a:xfrm>
              <a:prstGeom prst="rect">
                <a:avLst/>
              </a:prstGeom>
              <a:blipFill>
                <a:blip r:embed="rId5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85CF0C3-531F-F08B-5402-D56BD6537BC1}"/>
                  </a:ext>
                </a:extLst>
              </p:cNvPr>
              <p:cNvSpPr txBox="1"/>
              <p:nvPr/>
            </p:nvSpPr>
            <p:spPr>
              <a:xfrm>
                <a:off x="5138152" y="2472337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85CF0C3-531F-F08B-5402-D56BD6537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152" y="2472337"/>
                <a:ext cx="128240" cy="276999"/>
              </a:xfrm>
              <a:prstGeom prst="rect">
                <a:avLst/>
              </a:prstGeom>
              <a:blipFill>
                <a:blip r:embed="rId6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FF931FD5-A79F-7F0D-21F0-E139ABDCF5DE}"/>
                  </a:ext>
                </a:extLst>
              </p:cNvPr>
              <p:cNvSpPr txBox="1"/>
              <p:nvPr/>
            </p:nvSpPr>
            <p:spPr>
              <a:xfrm>
                <a:off x="6489623" y="2472337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FF931FD5-A79F-7F0D-21F0-E139ABDCF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623" y="2472337"/>
                <a:ext cx="128240" cy="276999"/>
              </a:xfrm>
              <a:prstGeom prst="rect">
                <a:avLst/>
              </a:prstGeom>
              <a:blipFill>
                <a:blip r:embed="rId7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9CE4D649-F0C2-A950-A7DB-6C6C27A470E8}"/>
                  </a:ext>
                </a:extLst>
              </p:cNvPr>
              <p:cNvSpPr txBox="1"/>
              <p:nvPr/>
            </p:nvSpPr>
            <p:spPr>
              <a:xfrm>
                <a:off x="7841094" y="2472336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9CE4D649-F0C2-A950-A7DB-6C6C27A47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094" y="2472336"/>
                <a:ext cx="128240" cy="276999"/>
              </a:xfrm>
              <a:prstGeom prst="rect">
                <a:avLst/>
              </a:prstGeom>
              <a:blipFill>
                <a:blip r:embed="rId5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476E079F-AC4C-824B-8408-02F3B1C41603}"/>
                  </a:ext>
                </a:extLst>
              </p:cNvPr>
              <p:cNvSpPr txBox="1"/>
              <p:nvPr/>
            </p:nvSpPr>
            <p:spPr>
              <a:xfrm>
                <a:off x="9261577" y="2472335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476E079F-AC4C-824B-8408-02F3B1C41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577" y="2472335"/>
                <a:ext cx="128240" cy="276999"/>
              </a:xfrm>
              <a:prstGeom prst="rect">
                <a:avLst/>
              </a:prstGeom>
              <a:blipFill>
                <a:blip r:embed="rId8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A97D69BF-401F-EEA8-66E0-629E9870D1D2}"/>
                  </a:ext>
                </a:extLst>
              </p:cNvPr>
              <p:cNvSpPr txBox="1"/>
              <p:nvPr/>
            </p:nvSpPr>
            <p:spPr>
              <a:xfrm>
                <a:off x="9759034" y="2472334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A97D69BF-401F-EEA8-66E0-629E9870D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9034" y="2472334"/>
                <a:ext cx="128240" cy="276999"/>
              </a:xfrm>
              <a:prstGeom prst="rect">
                <a:avLst/>
              </a:prstGeom>
              <a:blipFill>
                <a:blip r:embed="rId6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670E50EB-BDAC-A664-DFDA-3B8DAEA9A265}"/>
                  </a:ext>
                </a:extLst>
              </p:cNvPr>
              <p:cNvSpPr txBox="1"/>
              <p:nvPr/>
            </p:nvSpPr>
            <p:spPr>
              <a:xfrm>
                <a:off x="10221725" y="2472333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670E50EB-BDAC-A664-DFDA-3B8DAEA9A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1725" y="2472333"/>
                <a:ext cx="128240" cy="276999"/>
              </a:xfrm>
              <a:prstGeom prst="rect">
                <a:avLst/>
              </a:prstGeom>
              <a:blipFill>
                <a:blip r:embed="rId9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9ED2BB98-888B-CDD9-CE07-E7D7FAAF6CF1}"/>
                  </a:ext>
                </a:extLst>
              </p:cNvPr>
              <p:cNvSpPr txBox="1"/>
              <p:nvPr/>
            </p:nvSpPr>
            <p:spPr>
              <a:xfrm>
                <a:off x="10782702" y="2472337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9ED2BB98-888B-CDD9-CE07-E7D7FAAF6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2702" y="2472337"/>
                <a:ext cx="128240" cy="276999"/>
              </a:xfrm>
              <a:prstGeom prst="rect">
                <a:avLst/>
              </a:prstGeom>
              <a:blipFill>
                <a:blip r:embed="rId10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915E0B4F-0795-1FDD-B6BC-3BEDBF03C94B}"/>
                  </a:ext>
                </a:extLst>
              </p:cNvPr>
              <p:cNvSpPr txBox="1"/>
              <p:nvPr/>
            </p:nvSpPr>
            <p:spPr>
              <a:xfrm>
                <a:off x="11181273" y="2472332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915E0B4F-0795-1FDD-B6BC-3BEDBF03C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1273" y="2472332"/>
                <a:ext cx="128240" cy="276999"/>
              </a:xfrm>
              <a:prstGeom prst="rect">
                <a:avLst/>
              </a:prstGeom>
              <a:blipFill>
                <a:blip r:embed="rId11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Image 25">
            <a:extLst>
              <a:ext uri="{FF2B5EF4-FFF2-40B4-BE49-F238E27FC236}">
                <a16:creationId xmlns:a16="http://schemas.microsoft.com/office/drawing/2014/main" id="{0EAF86AE-F6E7-6D5A-ABB1-817A6BAAD7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6991" y="3990353"/>
            <a:ext cx="7026249" cy="2187130"/>
          </a:xfrm>
          <a:prstGeom prst="rect">
            <a:avLst/>
          </a:prstGeom>
        </p:spPr>
      </p:pic>
      <p:sp>
        <p:nvSpPr>
          <p:cNvPr id="27" name="Titre 4">
            <a:extLst>
              <a:ext uri="{FF2B5EF4-FFF2-40B4-BE49-F238E27FC236}">
                <a16:creationId xmlns:a16="http://schemas.microsoft.com/office/drawing/2014/main" id="{E1E0B8A4-1417-0659-A756-CCCFFDCDC3FF}"/>
              </a:ext>
            </a:extLst>
          </p:cNvPr>
          <p:cNvSpPr txBox="1">
            <a:spLocks/>
          </p:cNvSpPr>
          <p:nvPr/>
        </p:nvSpPr>
        <p:spPr bwMode="auto">
          <a:xfrm>
            <a:off x="343319" y="1901676"/>
            <a:ext cx="4183218" cy="143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xmlns:a14="http://schemas.microsoft.com/office/drawing/2010/main" xmlns:mc="http://schemas.openxmlformats.org/markup-compatibility/2006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System masses DB (#35)</a:t>
            </a:r>
          </a:p>
          <a:p>
            <a:r>
              <a:rPr lang="en-US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(Almost) all flight models</a:t>
            </a:r>
          </a:p>
        </p:txBody>
      </p:sp>
      <p:sp>
        <p:nvSpPr>
          <p:cNvPr id="28" name="Titre 4">
            <a:extLst>
              <a:ext uri="{FF2B5EF4-FFF2-40B4-BE49-F238E27FC236}">
                <a16:creationId xmlns:a16="http://schemas.microsoft.com/office/drawing/2014/main" id="{1F716677-1B75-004B-E2EA-D2ED62EA91EA}"/>
              </a:ext>
            </a:extLst>
          </p:cNvPr>
          <p:cNvSpPr txBox="1">
            <a:spLocks/>
          </p:cNvSpPr>
          <p:nvPr/>
        </p:nvSpPr>
        <p:spPr bwMode="auto">
          <a:xfrm>
            <a:off x="241242" y="5041805"/>
            <a:ext cx="4285295" cy="115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Subsystem masses DB (#12)</a:t>
            </a:r>
          </a:p>
          <a:p>
            <a:r>
              <a:rPr lang="en-US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Flown landers and concepts</a:t>
            </a:r>
          </a:p>
          <a:p>
            <a:endParaRPr lang="en-US" b="0" kern="0" dirty="0">
              <a:solidFill>
                <a:srgbClr val="44546A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16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(payload for manned landers is ascent stage)</a:t>
            </a:r>
          </a:p>
          <a:p>
            <a:endParaRPr lang="en-US" b="0" kern="0" dirty="0">
              <a:solidFill>
                <a:srgbClr val="44546A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9" name="Espace réservé du numéro de diapositive 28">
            <a:extLst>
              <a:ext uri="{FF2B5EF4-FFF2-40B4-BE49-F238E27FC236}">
                <a16:creationId xmlns:a16="http://schemas.microsoft.com/office/drawing/2014/main" id="{D638A9DB-26DC-8752-A78D-699BAF2D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10</a:t>
            </a:fld>
            <a:endParaRPr lang="en-GB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982EF20-98B0-BA13-D9CB-631F91312D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99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2B139-BC18-9045-8E52-972EFD16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E2349D0-2D92-E418-B362-FCA355E6800C}"/>
              </a:ext>
            </a:extLst>
          </p:cNvPr>
          <p:cNvSpPr/>
          <p:nvPr/>
        </p:nvSpPr>
        <p:spPr>
          <a:xfrm>
            <a:off x="6367823" y="5263627"/>
            <a:ext cx="4584912" cy="713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FEFC315B-01A7-5373-0698-430426968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F40F3B0F-2610-414F-AE66-C5BF750E2F96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C7325C0-1C63-92A0-C347-13FE436C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Results – Sizing Rules</a:t>
            </a:r>
          </a:p>
        </p:txBody>
      </p:sp>
      <p:pic>
        <p:nvPicPr>
          <p:cNvPr id="3" name="Image 2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3E6523A8-E007-EC1D-8846-695422873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20" y="1824943"/>
            <a:ext cx="4534753" cy="34010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re 4">
                <a:extLst>
                  <a:ext uri="{FF2B5EF4-FFF2-40B4-BE49-F238E27FC236}">
                    <a16:creationId xmlns:a16="http://schemas.microsoft.com/office/drawing/2014/main" id="{9FD0CF7B-BEBF-D9A6-9FE6-862CEC5D636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00089" y="1073992"/>
                <a:ext cx="10953391" cy="8848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lc="http://schemas.openxmlformats.org/drawingml/2006/lockedCanvas" xmlns:ma14="http://schemas.microsoft.com/office/mac/drawingml/2011/main" xmlns="" val="1"/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+mj-lt"/>
                    <a:ea typeface="+mj-ea"/>
                    <a:cs typeface="ＭＳ Ｐゴシック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5pPr>
                <a:lvl6pPr marL="4572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6pPr>
                <a:lvl7pPr marL="9144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7pPr>
                <a:lvl8pPr marL="13716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8pPr>
                <a:lvl9pPr marL="18288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9pPr>
              </a:lstStyle>
              <a:p>
                <a:r>
                  <a:rPr lang="en-IE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For the system masses: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𝑑</m:t>
                        </m:r>
                      </m:sub>
                    </m:sSub>
                    <m:r>
                      <a:rPr lang="en-IE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,</m:t>
                    </m:r>
                    <m:r>
                      <m:rPr>
                        <m:nor/>
                      </m:rPr>
                      <a:rPr lang="en-US" b="0" kern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and</m:t>
                    </m:r>
                    <m:r>
                      <a:rPr lang="en-IE" b="0" i="1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  <m:sSub>
                      <m:sSubPr>
                        <m:ctrlPr>
                          <a:rPr lang="en-IE" b="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IE" b="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𝑝𝑟𝑜𝑝</m:t>
                        </m:r>
                      </m:sub>
                    </m:sSub>
                    <m:r>
                      <a:rPr lang="en-IE" b="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  <m:r>
                      <a:rPr lang="en-IE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</m:oMath>
                </a14:m>
                <a:endParaRPr lang="en-US" b="0" kern="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5" name="Titre 4">
                <a:extLst>
                  <a:ext uri="{FF2B5EF4-FFF2-40B4-BE49-F238E27FC236}">
                    <a16:creationId xmlns:a16="http://schemas.microsoft.com/office/drawing/2014/main" id="{9FD0CF7B-BEBF-D9A6-9FE6-862CEC5D6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0089" y="1073992"/>
                <a:ext cx="10953391" cy="884849"/>
              </a:xfrm>
              <a:prstGeom prst="rect">
                <a:avLst/>
              </a:prstGeom>
              <a:blipFill>
                <a:blip r:embed="rId5"/>
                <a:stretch>
                  <a:fillRect l="-17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lc="http://schemas.openxmlformats.org/drawingml/2006/lockedCanvas" xmlns:ma14="http://schemas.microsoft.com/office/mac/drawingml/2011/main" xmlns="" val="1"/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0FDE49E-E452-06F5-58A6-CEF36F628C31}"/>
                  </a:ext>
                </a:extLst>
              </p:cNvPr>
              <p:cNvSpPr txBox="1"/>
              <p:nvPr/>
            </p:nvSpPr>
            <p:spPr>
              <a:xfrm>
                <a:off x="-101600" y="5475651"/>
                <a:ext cx="6197600" cy="780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20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IE" sz="20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20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𝑑</m:t>
                          </m:r>
                        </m:sub>
                      </m:sSub>
                      <m:r>
                        <a:rPr lang="en-IE" sz="20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=367.29</m:t>
                      </m:r>
                      <m:r>
                        <a:rPr lang="en-IE" sz="20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</a:rPr>
                        <m:t>∙</m:t>
                      </m:r>
                      <m:func>
                        <m:funcPr>
                          <m:ctrlPr>
                            <a:rPr lang="en-IE" sz="20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E" sz="2000" b="0" i="0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IE" sz="20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E" sz="2000" b="0" i="1" kern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000" b="0" i="1" kern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000" b="0" i="1" kern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IE" sz="20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</a:rPr>
                        <m:t>−904.17</m:t>
                      </m:r>
                    </m:oMath>
                  </m:oMathPara>
                </a14:m>
                <a:endParaRPr lang="en-IE" sz="2000" b="0" kern="0" dirty="0">
                  <a:solidFill>
                    <a:schemeClr val="tx1"/>
                  </a:solidFill>
                  <a:ea typeface="Cambria Math" panose="02040503050406030204" pitchFamily="18" charset="0"/>
                  <a:cs typeface="CMU Serif" panose="02000603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E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E" sz="2000" b="0" i="1" smtClean="0">
                          <a:latin typeface="Cambria Math" panose="02040503050406030204" pitchFamily="18" charset="0"/>
                        </a:rPr>
                        <m:t>=0.92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0FDE49E-E452-06F5-58A6-CEF36F628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1600" y="5475651"/>
                <a:ext cx="6197600" cy="7800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4E72CA2-2B04-3E17-D243-718313CEBB05}"/>
                  </a:ext>
                </a:extLst>
              </p:cNvPr>
              <p:cNvSpPr txBox="1"/>
              <p:nvPr/>
            </p:nvSpPr>
            <p:spPr>
              <a:xfrm>
                <a:off x="5455880" y="5220742"/>
                <a:ext cx="6197600" cy="9557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20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IE" sz="20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20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𝑝𝑟𝑜𝑝</m:t>
                          </m:r>
                        </m:sub>
                      </m:sSub>
                      <m:r>
                        <a:rPr lang="en-IE" sz="20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=1.16</m:t>
                      </m:r>
                      <m:r>
                        <a:rPr lang="en-IE" sz="20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</a:rPr>
                        <m:t>∙</m:t>
                      </m:r>
                      <m:r>
                        <a:rPr lang="en-IE" sz="20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(</m:t>
                      </m:r>
                      <m:sSub>
                        <m:sSubPr>
                          <m:ctrlP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𝑑</m:t>
                          </m:r>
                        </m:sub>
                      </m:sSub>
                      <m:r>
                        <a:rPr lang="en-IE" sz="20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+</m:t>
                      </m:r>
                      <m:sSub>
                        <m:sSubPr>
                          <m:ctrlP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𝑝</m:t>
                          </m:r>
                        </m:sub>
                      </m:sSub>
                      <m:r>
                        <a:rPr lang="en-IE" sz="20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)</m:t>
                      </m:r>
                      <m:r>
                        <a:rPr lang="en-IE" sz="20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∙(</m:t>
                      </m:r>
                      <m:sSup>
                        <m:sSupPr>
                          <m:ctrlP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IE" sz="20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</m:ctrlPr>
                            </m:fPr>
                            <m:num>
                              <m:r>
                                <a:rPr lang="en-IE" sz="20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∆</m:t>
                              </m:r>
                              <m:r>
                                <a:rPr lang="en-IE" sz="20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𝑉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𝑠𝑝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IE" sz="20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−1)</m:t>
                      </m:r>
                    </m:oMath>
                  </m:oMathPara>
                </a14:m>
                <a:endParaRPr lang="en-IE" sz="2000" kern="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  <a:p>
                <a:endParaRPr lang="fr-FR" sz="2000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4E72CA2-2B04-3E17-D243-718313CEB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880" y="5220742"/>
                <a:ext cx="6197600" cy="9557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E866DA85-5EB5-F3C9-542B-ED7DA1BC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11</a:t>
            </a:fld>
            <a:endParaRPr lang="en-GB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2D157B4-3523-7CF3-90B5-F02670A19A74}"/>
              </a:ext>
            </a:extLst>
          </p:cNvPr>
          <p:cNvGrpSpPr/>
          <p:nvPr/>
        </p:nvGrpSpPr>
        <p:grpSpPr>
          <a:xfrm>
            <a:off x="6367823" y="1836846"/>
            <a:ext cx="4534752" cy="3426781"/>
            <a:chOff x="5124289" y="1592485"/>
            <a:chExt cx="4534752" cy="3426781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39569D9A-BD9C-7C53-4370-2DCAD35BD751}"/>
                </a:ext>
              </a:extLst>
            </p:cNvPr>
            <p:cNvGrpSpPr/>
            <p:nvPr/>
          </p:nvGrpSpPr>
          <p:grpSpPr>
            <a:xfrm>
              <a:off x="5124289" y="1592485"/>
              <a:ext cx="4534752" cy="3401065"/>
              <a:chOff x="5124289" y="1592485"/>
              <a:chExt cx="4534752" cy="3401065"/>
            </a:xfrm>
          </p:grpSpPr>
          <p:pic>
            <p:nvPicPr>
              <p:cNvPr id="7" name="Image 6" descr="Une image contenant texte, ligne, capture d’écran, Tracé&#10;&#10;Le contenu généré par l’IA peut être incorrect.">
                <a:extLst>
                  <a:ext uri="{FF2B5EF4-FFF2-40B4-BE49-F238E27FC236}">
                    <a16:creationId xmlns:a16="http://schemas.microsoft.com/office/drawing/2014/main" id="{20A8E77C-CA88-4B22-2C6D-20BB9A3F9D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24289" y="1592485"/>
                <a:ext cx="4534752" cy="3401065"/>
              </a:xfrm>
              <a:prstGeom prst="rect">
                <a:avLst/>
              </a:prstGeom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057920A-EBC2-A84E-86F6-DF40E1D661DB}"/>
                  </a:ext>
                </a:extLst>
              </p:cNvPr>
              <p:cNvSpPr/>
              <p:nvPr/>
            </p:nvSpPr>
            <p:spPr>
              <a:xfrm>
                <a:off x="6963576" y="4816112"/>
                <a:ext cx="1046480" cy="1446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46E4ABFF-1F8E-03A2-8A5F-F3EF23B27EB9}"/>
                </a:ext>
              </a:extLst>
            </p:cNvPr>
            <p:cNvSpPr txBox="1"/>
            <p:nvPr/>
          </p:nvSpPr>
          <p:spPr>
            <a:xfrm>
              <a:off x="6622621" y="4757656"/>
              <a:ext cx="18614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Dry mass + </a:t>
              </a:r>
              <a:r>
                <a:rPr lang="fr-FR" sz="11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payload</a:t>
              </a: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mass [kg]</a:t>
              </a:r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C6EC857A-FC40-D1E4-68B4-8ED9DBDEAD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3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19F5B-B863-8409-ECA7-6A960C960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49CFD27-0FAA-8AB5-D3BA-63B14846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586633B7-93E1-7C3F-C7C4-E21AF8F3B7A6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44B14F5-5312-F5E5-C2BB-CA2E2FD0A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Results – Sizing Rules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122284D-8D0E-2827-630B-A43B1E4EB712}"/>
              </a:ext>
            </a:extLst>
          </p:cNvPr>
          <p:cNvSpPr txBox="1">
            <a:spLocks/>
          </p:cNvSpPr>
          <p:nvPr/>
        </p:nvSpPr>
        <p:spPr bwMode="auto">
          <a:xfrm>
            <a:off x="752116" y="1073992"/>
            <a:ext cx="10953391" cy="88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 the subsystem masses: multiple linear regression, and bottom up sizing</a:t>
            </a:r>
            <a:endParaRPr lang="en-US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CD9D5E-44B7-2606-1558-E957333F4906}"/>
                  </a:ext>
                </a:extLst>
              </p:cNvPr>
              <p:cNvSpPr txBox="1"/>
              <p:nvPr/>
            </p:nvSpPr>
            <p:spPr>
              <a:xfrm>
                <a:off x="2233579" y="1936872"/>
                <a:ext cx="3729611" cy="1570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  <m:t>𝑝𝑟𝑜𝑝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</m:sub>
                              </m:sSub>
                            </m:e>
                            <m:e>
                              <m:r>
                                <a:rPr lang="fr-F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e>
                              <m:r>
                                <a:rPr lang="en-I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𝑖𝑛𝑡𝑒𝑟𝑐𝑒𝑝𝑡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CD9D5E-44B7-2606-1558-E957333F4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579" y="1936872"/>
                <a:ext cx="3729611" cy="15702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 10">
            <a:extLst>
              <a:ext uri="{FF2B5EF4-FFF2-40B4-BE49-F238E27FC236}">
                <a16:creationId xmlns:a16="http://schemas.microsoft.com/office/drawing/2014/main" id="{B3C3E8C9-EAA5-5FAA-5F44-3CA4AB17C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77" y="3820142"/>
            <a:ext cx="6502129" cy="1827521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F421181-5C91-9978-7EF0-CF7F0B7F5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61B8E38F-0A6A-C083-4454-6AEAA46205CB}"/>
                  </a:ext>
                </a:extLst>
              </p:cNvPr>
              <p:cNvSpPr txBox="1"/>
              <p:nvPr/>
            </p:nvSpPr>
            <p:spPr>
              <a:xfrm>
                <a:off x="7523567" y="2385104"/>
                <a:ext cx="4129913" cy="5765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fr-FR" dirty="0">
                    <a:latin typeface="Cambria Math" panose="02040503050406030204" pitchFamily="18" charset="0"/>
                  </a:rPr>
                  <a:t>Component </a:t>
                </a:r>
                <a:r>
                  <a:rPr lang="fr-FR" dirty="0" err="1">
                    <a:latin typeface="Cambria Math" panose="02040503050406030204" pitchFamily="18" charset="0"/>
                  </a:rPr>
                  <a:t>level</a:t>
                </a:r>
                <a:endParaRPr lang="fr-FR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𝑝𝑟𝑝𝑛</m:t>
                          </m:r>
                        </m:sub>
                      </m:sSub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𝑒𝑛𝑔𝑖𝑛𝑒𝑠</m:t>
                          </m:r>
                        </m:sub>
                      </m:sSub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𝑡𝑎𝑛𝑘𝑠</m:t>
                          </m:r>
                        </m:sub>
                      </m:sSub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𝑝𝑙𝑢𝑚𝑏𝑖𝑛𝑔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61B8E38F-0A6A-C083-4454-6AEAA4620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567" y="2385104"/>
                <a:ext cx="4129913" cy="576568"/>
              </a:xfrm>
              <a:prstGeom prst="rect">
                <a:avLst/>
              </a:prstGeom>
              <a:blipFill>
                <a:blip r:embed="rId5"/>
                <a:stretch>
                  <a:fillRect t="-14737" b="-136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 15">
            <a:extLst>
              <a:ext uri="{FF2B5EF4-FFF2-40B4-BE49-F238E27FC236}">
                <a16:creationId xmlns:a16="http://schemas.microsoft.com/office/drawing/2014/main" id="{5F44DA18-532A-93DE-57B6-D3D449EB6A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3365" y="3991849"/>
            <a:ext cx="4205832" cy="1484109"/>
          </a:xfrm>
          <a:prstGeom prst="rect">
            <a:avLst/>
          </a:prstGeom>
        </p:spPr>
      </p:pic>
      <p:sp>
        <p:nvSpPr>
          <p:cNvPr id="6" name="Titre 4">
            <a:extLst>
              <a:ext uri="{FF2B5EF4-FFF2-40B4-BE49-F238E27FC236}">
                <a16:creationId xmlns:a16="http://schemas.microsoft.com/office/drawing/2014/main" id="{5A6081ED-8A2D-2543-B18F-E0AC36609A27}"/>
              </a:ext>
            </a:extLst>
          </p:cNvPr>
          <p:cNvSpPr txBox="1">
            <a:spLocks/>
          </p:cNvSpPr>
          <p:nvPr/>
        </p:nvSpPr>
        <p:spPr bwMode="auto">
          <a:xfrm>
            <a:off x="450762" y="5647663"/>
            <a:ext cx="7676201" cy="5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Problems with outliers: Single linear regression used also</a:t>
            </a:r>
            <a:endParaRPr lang="en-US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1E49B83-A29C-A05A-7313-E16EA9A35A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55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A4F66-E32D-32F8-01A4-6028466C7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65710CE1-D822-556F-3B7E-910988776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E6880AE0-107C-35D4-4EA8-08B23F8F77E4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202D3AA-296F-AD55-F69D-A4417DAD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Sizing Algorithm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A376A8A-1948-984F-9A6F-969C77E0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13</a:t>
            </a:fld>
            <a:endParaRPr lang="en-GB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4C14B4F-3C41-E895-5BE7-65DCE4C48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6230"/>
            <a:ext cx="8927142" cy="4258577"/>
          </a:xfrm>
          <a:prstGeom prst="rect">
            <a:avLst/>
          </a:prstGeom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17A08E89-F7E5-3C66-5016-4F7FC810D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575" y="5025467"/>
            <a:ext cx="4251325" cy="94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93B9A31-14BD-410C-6FEA-966DBE46CD1B}"/>
              </a:ext>
            </a:extLst>
          </p:cNvPr>
          <p:cNvSpPr txBox="1"/>
          <p:nvPr/>
        </p:nvSpPr>
        <p:spPr>
          <a:xfrm>
            <a:off x="7976576" y="1647867"/>
            <a:ext cx="4074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11 – Algorithms tested</a:t>
            </a:r>
          </a:p>
          <a:p>
            <a:r>
              <a:rPr lang="en-I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Measured by median absolute error</a:t>
            </a:r>
          </a:p>
          <a:p>
            <a:endParaRPr lang="en-IE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4C26B7C-2E37-0FF8-54CB-C4729ED8C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61" y="2536176"/>
            <a:ext cx="2890123" cy="733315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1DF7BA93-B912-EEC6-6859-557C1D82D7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023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52477-E00A-0D8A-8F83-8FFACCE38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ransport, engin spatial, sol, plein air&#10;&#10;Le contenu généré par l’IA peut être incorrect.">
            <a:extLst>
              <a:ext uri="{FF2B5EF4-FFF2-40B4-BE49-F238E27FC236}">
                <a16:creationId xmlns:a16="http://schemas.microsoft.com/office/drawing/2014/main" id="{937106EC-47BD-C463-629B-C02399D25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024" y="1861881"/>
            <a:ext cx="3495675" cy="3495675"/>
          </a:xfrm>
          <a:prstGeom prst="rect">
            <a:avLst/>
          </a:prstGeom>
        </p:spPr>
      </p:pic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56B39693-BAF2-CBB1-0A3B-9FA72D55F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57BC41E0-EDA0-0B71-0F6A-DA63DF0C360D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534B546-0183-2113-A7AD-D3E252EE6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Results – Validation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C50A736D-B79E-94AC-1184-0B0B15B86BEC}"/>
              </a:ext>
            </a:extLst>
          </p:cNvPr>
          <p:cNvSpPr txBox="1">
            <a:spLocks/>
          </p:cNvSpPr>
          <p:nvPr/>
        </p:nvSpPr>
        <p:spPr bwMode="auto">
          <a:xfrm>
            <a:off x="450762" y="1073992"/>
            <a:ext cx="10953391" cy="1983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Resizing of the J-series Apollo LM.</a:t>
            </a:r>
            <a:b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</a:br>
            <a: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Algo No. 7 N2O4/AZ</a:t>
            </a:r>
          </a:p>
          <a:p>
            <a:endParaRPr lang="en-IE" b="0" kern="0" dirty="0">
              <a:solidFill>
                <a:srgbClr val="44546A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b="0" kern="0" dirty="0">
              <a:solidFill>
                <a:srgbClr val="44546A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8548D62-2E41-C80E-D303-43DBC07120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88585" y="1580966"/>
            <a:ext cx="5615568" cy="415446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D095CC40-8CE4-610C-CC7C-156889D4F5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88585" y="1599405"/>
            <a:ext cx="5615568" cy="41544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28A3206E-EA2C-758C-0371-2FB3DCDB6BA6}"/>
                  </a:ext>
                </a:extLst>
              </p:cNvPr>
              <p:cNvSpPr txBox="1"/>
              <p:nvPr/>
            </p:nvSpPr>
            <p:spPr>
              <a:xfrm>
                <a:off x="519114" y="2404741"/>
                <a:ext cx="4795836" cy="27914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E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𝑠𝑝</m:t>
                                </m:r>
                              </m:sub>
                            </m:sSub>
                          </m:e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eqArr>
                      </m:e>
                    </m:d>
                  </m:oMath>
                </a14:m>
                <a:r>
                  <a:rPr lang="fr-FR" dirty="0"/>
                  <a:t>=</a:t>
                </a:r>
                <a:r>
                  <a:rPr lang="en-IE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5295</m:t>
                            </m:r>
                          </m:e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311</m:t>
                            </m:r>
                          </m:e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2265</m:t>
                            </m:r>
                          </m:e>
                        </m:eqArr>
                      </m:e>
                    </m:d>
                  </m:oMath>
                </a14:m>
                <a:r>
                  <a:rPr lang="fr-FR" dirty="0"/>
                  <a:t> </a:t>
                </a:r>
              </a:p>
              <a:p>
                <a:endParaRPr lang="fr-FR" dirty="0"/>
              </a:p>
              <a:p>
                <a:r>
                  <a:rPr lang="fr-FR" dirty="0"/>
                  <a:t>all LM values </a:t>
                </a:r>
                <a:r>
                  <a:rPr lang="fr-FR" dirty="0" err="1"/>
                  <a:t>from</a:t>
                </a:r>
                <a:r>
                  <a:rPr lang="fr-FR" dirty="0"/>
                  <a:t> </a:t>
                </a:r>
                <a:r>
                  <a:rPr lang="fr-FR" i="1" dirty="0"/>
                  <a:t>Apollo by the Numbers </a:t>
                </a:r>
                <a:r>
                  <a:rPr lang="fr-FR" dirty="0"/>
                  <a:t>(Orloff 1996)</a:t>
                </a:r>
              </a:p>
              <a:p>
                <a:endParaRPr lang="fr-FR" dirty="0"/>
              </a:p>
              <a:p>
                <a:r>
                  <a:rPr lang="fr-FR" dirty="0"/>
                  <a:t>Good estimation of system </a:t>
                </a:r>
                <a:r>
                  <a:rPr lang="fr-FR" dirty="0" err="1"/>
                  <a:t>level</a:t>
                </a:r>
                <a:r>
                  <a:rPr lang="fr-FR" dirty="0"/>
                  <a:t> masses</a:t>
                </a:r>
              </a:p>
              <a:p>
                <a:r>
                  <a:rPr lang="fr-FR" dirty="0" err="1"/>
                  <a:t>Some</a:t>
                </a:r>
                <a:r>
                  <a:rPr lang="fr-FR" dirty="0"/>
                  <a:t> large </a:t>
                </a:r>
                <a:r>
                  <a:rPr lang="fr-FR" dirty="0" err="1"/>
                  <a:t>errors</a:t>
                </a:r>
                <a:r>
                  <a:rPr lang="fr-FR" dirty="0"/>
                  <a:t> in </a:t>
                </a:r>
                <a:r>
                  <a:rPr lang="fr-FR" dirty="0" err="1"/>
                  <a:t>ss</a:t>
                </a:r>
                <a:r>
                  <a:rPr lang="fr-FR" dirty="0"/>
                  <a:t> </a:t>
                </a:r>
                <a:r>
                  <a:rPr lang="fr-FR" dirty="0" err="1"/>
                  <a:t>sizing</a:t>
                </a:r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28A3206E-EA2C-758C-0371-2FB3DCDB6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14" y="2404741"/>
                <a:ext cx="4795836" cy="2791470"/>
              </a:xfrm>
              <a:prstGeom prst="rect">
                <a:avLst/>
              </a:prstGeom>
              <a:blipFill>
                <a:blip r:embed="rId6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FCE95471-CC1A-BFF0-B8E8-78C1569F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14</a:t>
            </a:fld>
            <a:endParaRPr lang="en-GB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D168DB9-62A3-3D80-256B-FD28A56A6B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9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E2C76-DDD6-956E-CE69-93C8C2EB3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67B80B32-E663-05EE-382B-38E7F885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57F61B9B-A76E-1274-AC6E-ED42C5686E55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A6CBBAF-618C-DD7C-C428-90F6467A6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Results – Validation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08C373C1-5913-F8D7-7D33-C9227302FDA9}"/>
              </a:ext>
            </a:extLst>
          </p:cNvPr>
          <p:cNvSpPr txBox="1">
            <a:spLocks/>
          </p:cNvSpPr>
          <p:nvPr/>
        </p:nvSpPr>
        <p:spPr bwMode="auto">
          <a:xfrm>
            <a:off x="450762" y="1073992"/>
            <a:ext cx="10953391" cy="1983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Resizing all landers in the DB. The best performers: all single linear regressors</a:t>
            </a:r>
          </a:p>
          <a:p>
            <a:endParaRPr lang="en-IE" b="0" kern="0" dirty="0">
              <a:solidFill>
                <a:srgbClr val="44546A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b="0" kern="0" dirty="0">
              <a:solidFill>
                <a:srgbClr val="44546A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629B2963-9955-2C24-6418-ECD106EA2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15</a:t>
            </a:fld>
            <a:endParaRPr lang="en-GB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8654891-F479-DE85-6337-99BDFB9CF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426" y="2331849"/>
            <a:ext cx="8748518" cy="3452159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5AF54A18-53DA-5A75-10DF-B6484F629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609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94F64-3D0C-2B05-357D-CD2A4500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63262791-D1F6-1B4F-5A65-E99B30AF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2215D689-59D1-2943-3976-35ADC97C5DAC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8E32838-9626-EC1E-1E5E-BC9F28D41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4">
                <a:extLst>
                  <a:ext uri="{FF2B5EF4-FFF2-40B4-BE49-F238E27FC236}">
                    <a16:creationId xmlns:a16="http://schemas.microsoft.com/office/drawing/2014/main" id="{CD9FA2A6-C4A3-9FAB-026F-CCACBC3EA39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52362" y="1967400"/>
                <a:ext cx="10686647" cy="3612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lc="http://schemas.openxmlformats.org/drawingml/2006/lockedCanvas" xmlns:ma14="http://schemas.microsoft.com/office/mac/drawingml/2011/main" xmlns="" val="1"/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+mj-lt"/>
                    <a:ea typeface="+mj-ea"/>
                    <a:cs typeface="ＭＳ Ｐゴシック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5pPr>
                <a:lvl6pPr marL="4572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6pPr>
                <a:lvl7pPr marL="9144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7pPr>
                <a:lvl8pPr marL="13716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8pPr>
                <a:lvl9pPr marL="18288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9pPr>
              </a:lstStyle>
              <a:p>
                <a:endParaRPr lang="en-US" b="0" kern="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r>
                  <a:rPr lang="en-US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Contributions: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Most up to date published lunar lander database used for sizing rule derivation.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Algorithms to size lunar landers to the subsystem level using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𝑝</m:t>
                        </m:r>
                      </m:sub>
                    </m:sSub>
                    <m:r>
                      <a:rPr lang="en-IE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,  </m:t>
                    </m:r>
                    <m:sSub>
                      <m:sSubPr>
                        <m:ctrlP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𝐼</m:t>
                        </m:r>
                      </m:e>
                      <m:sub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𝑠𝑝</m:t>
                        </m:r>
                      </m:sub>
                    </m:sSub>
                    <m:r>
                      <a:rPr lang="en-IE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</m:oMath>
                </a14:m>
                <a:r>
                  <a:rPr lang="en-US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∆</m:t>
                    </m:r>
                    <m:r>
                      <a:rPr lang="en-IE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𝑉</m:t>
                    </m:r>
                    <m:r>
                      <a:rPr lang="en-IE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. </m:t>
                    </m:r>
                  </m:oMath>
                </a14:m>
                <a:endParaRPr lang="en-IE" b="0" kern="0" dirty="0">
                  <a:solidFill>
                    <a:schemeClr val="tx1"/>
                  </a:solidFill>
                  <a:latin typeface="CMU Serif" panose="02000603000000000000" pitchFamily="2" charset="0"/>
                  <a:ea typeface="Cambria Math" panose="02040503050406030204" pitchFamily="18" charset="0"/>
                  <a:cs typeface="CMU Serif" panose="02000603000000000000" pitchFamily="2" charset="0"/>
                </a:endParaRPr>
              </a:p>
              <a:p>
                <a:endParaRPr lang="en-IE" b="0" kern="0" dirty="0">
                  <a:solidFill>
                    <a:schemeClr val="tx1"/>
                  </a:solidFill>
                  <a:latin typeface="CMU Serif" panose="02000603000000000000" pitchFamily="2" charset="0"/>
                  <a:ea typeface="Cambria Math" panose="02040503050406030204" pitchFamily="18" charset="0"/>
                  <a:cs typeface="CMU Serif" panose="02000603000000000000" pitchFamily="2" charset="0"/>
                </a:endParaRPr>
              </a:p>
              <a:p>
                <a:r>
                  <a:rPr lang="en-IE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Future Work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E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Must improve subsystem mass estimates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E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Uncertainty propagation through the sizing algorithm and progressive estimation starting with the highest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Serif" panose="02000603000000000000" pitchFamily="2" charset="0"/>
                          </a:rPr>
                        </m:ctrlPr>
                      </m:sSupPr>
                      <m:e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Serif" panose="02000603000000000000" pitchFamily="2" charset="0"/>
                          </a:rPr>
                          <m:t>𝑅</m:t>
                        </m:r>
                      </m:e>
                      <m:sup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Serif" panose="02000603000000000000" pitchFamily="2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E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 could improve subsystem mass estimates.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IE" b="0" kern="0" dirty="0">
                  <a:solidFill>
                    <a:schemeClr val="tx1"/>
                  </a:solidFill>
                  <a:latin typeface="CMU Serif" panose="02000603000000000000" pitchFamily="2" charset="0"/>
                  <a:ea typeface="Cambria Math" panose="02040503050406030204" pitchFamily="18" charset="0"/>
                  <a:cs typeface="CMU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2" name="Titre 4">
                <a:extLst>
                  <a:ext uri="{FF2B5EF4-FFF2-40B4-BE49-F238E27FC236}">
                    <a16:creationId xmlns:a16="http://schemas.microsoft.com/office/drawing/2014/main" id="{CD9FA2A6-C4A3-9FAB-026F-CCACBC3EA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362" y="1967400"/>
                <a:ext cx="10686647" cy="3612306"/>
              </a:xfrm>
              <a:prstGeom prst="rect">
                <a:avLst/>
              </a:prstGeom>
              <a:blipFill>
                <a:blip r:embed="rId3"/>
                <a:stretch>
                  <a:fillRect l="-1768" t="-9122" b="-116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lc="http://schemas.openxmlformats.org/drawingml/2006/lockedCanvas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CB8B8E0-9E4D-4312-822B-D0A15703D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16</a:t>
            </a:fld>
            <a:endParaRPr lang="en-GB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9B79D71-31E5-E057-F463-F476FF471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8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F7FCA-2B04-CB63-AFF6-27D2DAFEB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9F3291C9-6ACA-B3D8-6C3A-BDBCCD531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1045455D-AD29-4273-C21E-173FAE01886B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914FC01C-3D8C-D529-2FFF-E29A73EF8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References</a:t>
            </a:r>
          </a:p>
        </p:txBody>
      </p:sp>
      <p:sp>
        <p:nvSpPr>
          <p:cNvPr id="2" name="Titre 4">
            <a:extLst>
              <a:ext uri="{FF2B5EF4-FFF2-40B4-BE49-F238E27FC236}">
                <a16:creationId xmlns:a16="http://schemas.microsoft.com/office/drawing/2014/main" id="{5B100F08-A92E-00C8-CB65-9212EC2E9A1E}"/>
              </a:ext>
            </a:extLst>
          </p:cNvPr>
          <p:cNvSpPr txBox="1">
            <a:spLocks/>
          </p:cNvSpPr>
          <p:nvPr/>
        </p:nvSpPr>
        <p:spPr bwMode="auto">
          <a:xfrm>
            <a:off x="552852" y="1892368"/>
            <a:ext cx="11319834" cy="3949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Amos, J., 2010. EU awards Galileo satellite‑navigation contracts. BBC News, 7 January. Available at: 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hlinkClick r:id="rId3"/>
              </a:rPr>
              <a:t>http://news.bbc.co.uk/2/hi/science/nature/8442090.stm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0" kern="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StoneAlgo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(2024) Diamond Prices – Real-Time Market Trends. Available at: https://www.stonealgo.com/diamond-prices/?srsltid=AfmBOooDezL1x8X3j9bA7wr0FFT2uVo1hgZrP4pOa6aAj3RQ3cCIizXn (Accessed: 28 May 2025).</a:t>
            </a:r>
          </a:p>
          <a:p>
            <a:pPr marL="342900" indent="-342900">
              <a:buFont typeface="+mj-lt"/>
              <a:buAutoNum type="arabicPeriod"/>
            </a:pP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Lafleur, C., 2010. Costs of US piloted programs. The Space Review, 8 March. Available at: [http://www.thespacereview.com/article/1579/1]</a:t>
            </a:r>
          </a:p>
          <a:p>
            <a:pPr marL="342900" indent="-342900">
              <a:buFont typeface="+mj-lt"/>
              <a:buAutoNum type="arabicPeriod"/>
            </a:pP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Amos, J., 2010. EU awards Galileo satellite‑navigation contracts. BBC News, 7 January. Available at: 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hlinkClick r:id="rId3"/>
              </a:rPr>
              <a:t>http://news.bbc.co.uk/2/hi/science/nature/8442090.stm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GoldPrice.org, 2025. Gold Price Charts &amp; Historical Data [online] Available at: 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hlinkClick r:id="rId4"/>
              </a:rPr>
              <a:t>https://www.goldprice.org/</a:t>
            </a: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F. </a:t>
            </a:r>
            <a:r>
              <a:rPr lang="en-US" sz="1800" b="0" kern="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Eilingsfeld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2019 Introduction to Cost Engineering lecture 1.</a:t>
            </a:r>
          </a:p>
          <a:p>
            <a:pPr marL="342900" indent="-342900">
              <a:buFont typeface="+mj-lt"/>
              <a:buAutoNum type="arabicPeriod"/>
            </a:pP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IE" sz="1800" b="0" kern="0" dirty="0">
              <a:solidFill>
                <a:schemeClr val="tx1"/>
              </a:solidFill>
              <a:latin typeface="CMU Serif" panose="02000603000000000000" pitchFamily="2" charset="0"/>
              <a:ea typeface="Cambria Math" panose="02040503050406030204" pitchFamily="18" charset="0"/>
              <a:cs typeface="CMU Serif" panose="02000603000000000000" pitchFamily="2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8F3352F-043B-1863-EB8B-6E72E5E26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17</a:t>
            </a:fld>
            <a:endParaRPr lang="en-GB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3EEB67F-7A5A-6F2F-D77A-DE7BE6181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99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7FC1A-E507-6604-07AD-0EBEB431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26B2D7EE-CC77-9236-717A-6CB41522E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AFA1D743-861D-E5CC-123E-22DB2D158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1B7839-4E02-4926-82DE-D4F65430B72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75FD7F54-4E7D-86F7-8EA6-54269A3E72BB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AD9D6563-1903-16B8-104B-3C7CA4826568}"/>
              </a:ext>
            </a:extLst>
          </p:cNvPr>
          <p:cNvSpPr txBox="1">
            <a:spLocks/>
          </p:cNvSpPr>
          <p:nvPr/>
        </p:nvSpPr>
        <p:spPr bwMode="auto">
          <a:xfrm>
            <a:off x="4667374" y="3139218"/>
            <a:ext cx="2865412" cy="73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4000" kern="0" dirty="0">
                <a:solidFill>
                  <a:schemeClr val="tx2"/>
                </a:solidFill>
                <a:latin typeface="Arial"/>
                <a:cs typeface="Arial"/>
              </a:rPr>
              <a:t>Thank you !</a:t>
            </a:r>
            <a:endParaRPr lang="fr-FR" sz="4000" dirty="0">
              <a:solidFill>
                <a:schemeClr val="tx2"/>
              </a:solidFill>
              <a:latin typeface="Arial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C3C6D17-DCE1-EBC9-27AB-885B22F82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07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0BA8-D7BA-29F3-3C31-D2E883752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1D30E5E8-34B1-C086-602B-CCA04E37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36E8EBC5-745F-1F7B-07F2-E61FA3EBCA2B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E03362E2-BAA6-FE75-AC7C-E28BD6871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Extra slides – Uncertainty</a:t>
            </a:r>
          </a:p>
        </p:txBody>
      </p:sp>
      <p:pic>
        <p:nvPicPr>
          <p:cNvPr id="3" name="Image 2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F7BBDE10-A8E2-F85F-E880-E8C3385CE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31" y="1494886"/>
            <a:ext cx="9997537" cy="3868227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163CD8-27EF-BA4E-551B-7108CFA1C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19</a:t>
            </a:fld>
            <a:endParaRPr lang="en-GB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FE8905B-AC05-B6DA-1823-BBF50F3E3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52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38854-E663-E969-1760-C0E3B3B1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13142537-2B63-388E-0404-F077A9761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88311E00-F5E4-8B6E-4CBA-1D340692E10B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BC5453B-EA99-73EE-CADE-4C173FEE9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Extra slides Cargo Aircraft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6C8E33-2002-6B89-5C2A-9B647CA1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20</a:t>
            </a:fld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7A6CA52-DD5C-C487-DA4D-38B7F47D8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978" y="1304918"/>
            <a:ext cx="6274934" cy="4709462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CB2F54BD-F488-8D71-2134-FAA133242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60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D30DE-CFAB-1420-8A5C-AFBBD7A2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71FE95E5-A7C8-7F9B-7C53-81855D0FC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F7A0FB44-C0C2-AD13-82C2-BB1FBE6CD859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1B292DA-07BE-F7F7-C1E3-F1F47C17C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Extra Single Linear Regression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0FB9D1-BD49-278A-D1DF-F28C7757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222009FC-DF2B-4B48-A079-C7AEBE33B2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8228780"/>
              </p:ext>
            </p:extLst>
          </p:nvPr>
        </p:nvGraphicFramePr>
        <p:xfrm>
          <a:off x="546707" y="1576777"/>
          <a:ext cx="5116975" cy="4413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BDF88258-5342-4AA8-B915-807179AE34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3686767"/>
              </p:ext>
            </p:extLst>
          </p:nvPr>
        </p:nvGraphicFramePr>
        <p:xfrm>
          <a:off x="6000013" y="1576777"/>
          <a:ext cx="5981611" cy="4413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B39FD555-A37B-39C2-6371-5454902B0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68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D3C5C-D148-2433-E42F-B0721DAAE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7E34459C-BA57-9373-187D-6FDABC5E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B195F804-1454-53E3-D015-D31DCD633FEF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C24EC8D-D557-23CB-D0BF-B1B5343B3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Extra Single Linear Regression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547440-F771-440A-4786-28339D499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22</a:t>
            </a:fld>
            <a:endParaRPr lang="en-GB"/>
          </a:p>
        </p:txBody>
      </p: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A4A16350-8419-47B0-8BDC-1C3E8A3356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336926"/>
              </p:ext>
            </p:extLst>
          </p:nvPr>
        </p:nvGraphicFramePr>
        <p:xfrm>
          <a:off x="289678" y="1623430"/>
          <a:ext cx="5448649" cy="4180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CC7B3E5B-458C-46A1-BB34-FEA37FA6FB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7423785"/>
              </p:ext>
            </p:extLst>
          </p:nvPr>
        </p:nvGraphicFramePr>
        <p:xfrm>
          <a:off x="6292589" y="1623430"/>
          <a:ext cx="5448649" cy="4180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3621762F-EE18-C655-B181-E0D4FAEB1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37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CD19D-7AB9-94D4-70B0-8CEEA81F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9209E634-173A-DC87-4107-C77C86093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7DA5F161-01ED-5B8D-F747-50E6E361FDA5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A5F9E38-A367-1A95-3387-0985865C9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Extra Single Linear Regression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081F79-2165-DB2E-00F1-B7097FEE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23</a:t>
            </a:fld>
            <a:endParaRPr lang="en-GB"/>
          </a:p>
        </p:txBody>
      </p:sp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E050FCAD-1431-4C87-8419-563911174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73488"/>
              </p:ext>
            </p:extLst>
          </p:nvPr>
        </p:nvGraphicFramePr>
        <p:xfrm>
          <a:off x="700089" y="1623430"/>
          <a:ext cx="5448649" cy="4180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E7574CAF-5592-4606-8BC2-4563745F1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3941825"/>
              </p:ext>
            </p:extLst>
          </p:nvPr>
        </p:nvGraphicFramePr>
        <p:xfrm>
          <a:off x="6481665" y="1623430"/>
          <a:ext cx="5259573" cy="4180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066E20A7-C499-DC3E-E9F2-3AAB22619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20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/>
        <a:ea typeface="Arial"/>
        <a:cs typeface="Arial"/>
      </a:majorFont>
      <a:minorFont>
        <a:latin typeface="Georgia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7C9CCEEDCA54992F66F7A7781CBB9" ma:contentTypeVersion="11" ma:contentTypeDescription="Create a new document." ma:contentTypeScope="" ma:versionID="0ee6beb131e69cd11105616583ec5a25">
  <xsd:schema xmlns:xsd="http://www.w3.org/2001/XMLSchema" xmlns:xs="http://www.w3.org/2001/XMLSchema" xmlns:p="http://schemas.microsoft.com/office/2006/metadata/properties" xmlns:ns2="c9fab327-bdeb-4da7-b370-fc08541d515f" xmlns:ns3="3d8768f8-d542-4410-8966-b1381a372eab" targetNamespace="http://schemas.microsoft.com/office/2006/metadata/properties" ma:root="true" ma:fieldsID="ec48e0095ec955e3ebe29d510f967ece" ns2:_="" ns3:_="">
    <xsd:import namespace="c9fab327-bdeb-4da7-b370-fc08541d515f"/>
    <xsd:import namespace="3d8768f8-d542-4410-8966-b1381a372e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fab327-bdeb-4da7-b370-fc08541d51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0d25aaa-3409-4344-bb1d-806db514f7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768f8-d542-4410-8966-b1381a372ea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accba33-12ed-451b-8207-a0631af8efd8}" ma:internalName="TaxCatchAll" ma:showField="CatchAllData" ma:web="3d8768f8-d542-4410-8966-b1381a372e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fab327-bdeb-4da7-b370-fc08541d515f">
      <Terms xmlns="http://schemas.microsoft.com/office/infopath/2007/PartnerControls"/>
    </lcf76f155ced4ddcb4097134ff3c332f>
    <TaxCatchAll xmlns="3d8768f8-d542-4410-8966-b1381a372ea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2977D7-A4FF-4C2A-99BD-AC79FC3384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fab327-bdeb-4da7-b370-fc08541d515f"/>
    <ds:schemaRef ds:uri="3d8768f8-d542-4410-8966-b1381a372e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2A3CEA-1EB6-471E-9687-915F237754BD}">
  <ds:schemaRefs>
    <ds:schemaRef ds:uri="http://schemas.microsoft.com/office/2006/metadata/properties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3d8768f8-d542-4410-8966-b1381a372eab"/>
    <ds:schemaRef ds:uri="c9fab327-bdeb-4da7-b370-fc08541d515f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43DEFF1-692F-4573-9CF5-FEC2F7F42F6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17982</TotalTime>
  <Words>1084</Words>
  <Application>Microsoft Office PowerPoint</Application>
  <PresentationFormat>Grand écran</PresentationFormat>
  <Paragraphs>285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Cambria Math</vt:lpstr>
      <vt:lpstr>CMU Sans Serif</vt:lpstr>
      <vt:lpstr>CMU Serif</vt:lpstr>
      <vt:lpstr>Georgia</vt:lpstr>
      <vt:lpstr>SFRM1200</vt:lpstr>
      <vt:lpstr>Wingdings</vt:lpstr>
      <vt:lpstr>Office Theme</vt:lpstr>
      <vt:lpstr>Présentation PowerPoint</vt:lpstr>
      <vt:lpstr>Contents</vt:lpstr>
      <vt:lpstr>Context – The High Cost of Space Systems</vt:lpstr>
      <vt:lpstr>Context – The High Cost of Space Systems</vt:lpstr>
      <vt:lpstr>Context – How to Estimate Cost and Why Size</vt:lpstr>
      <vt:lpstr>Context – Why Study Unmanned Lunar Landers</vt:lpstr>
      <vt:lpstr>Current Topic – Mass Estimation of Lunar Landers</vt:lpstr>
      <vt:lpstr>Methods – Statistical Models and Sizing Algorithms</vt:lpstr>
      <vt:lpstr>Methods – Statistical Models and Sizing Algorithms</vt:lpstr>
      <vt:lpstr>Methods – Databases</vt:lpstr>
      <vt:lpstr>Results – Sizing Rules</vt:lpstr>
      <vt:lpstr>Results – Sizing Rules</vt:lpstr>
      <vt:lpstr>Sizing Algorithm</vt:lpstr>
      <vt:lpstr>Results – Validation</vt:lpstr>
      <vt:lpstr>Results – Validation</vt:lpstr>
      <vt:lpstr>Conclusion</vt:lpstr>
      <vt:lpstr>References</vt:lpstr>
      <vt:lpstr>Présentation PowerPoint</vt:lpstr>
      <vt:lpstr>Extra slides – Uncertainty</vt:lpstr>
      <vt:lpstr>Extra slides Cargo Aircraft</vt:lpstr>
      <vt:lpstr>Extra Single Linear Regression</vt:lpstr>
      <vt:lpstr>Extra Single Linear Regression</vt:lpstr>
      <vt:lpstr>Extra Single Linear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Microsoft Office User</dc:creator>
  <cp:lastModifiedBy>Conall DE PAOR</cp:lastModifiedBy>
  <cp:revision>761</cp:revision>
  <dcterms:created xsi:type="dcterms:W3CDTF">2022-11-28T14:45:23Z</dcterms:created>
  <dcterms:modified xsi:type="dcterms:W3CDTF">2025-07-30T09:37:53Z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0x010100BD17C9CCEEDCA54992F66F7A7781CBB9</vt:lpwstr>
  </property>
</Properties>
</file>